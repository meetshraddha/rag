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7" r:id="rId1"/>
  </p:sldMasterIdLst>
  <p:notesMasterIdLst>
    <p:notesMasterId r:id="rId24"/>
  </p:notesMasterIdLst>
  <p:sldIdLst>
    <p:sldId id="256" r:id="rId2"/>
    <p:sldId id="257" r:id="rId3"/>
    <p:sldId id="278" r:id="rId4"/>
    <p:sldId id="272" r:id="rId5"/>
    <p:sldId id="276" r:id="rId6"/>
    <p:sldId id="273" r:id="rId7"/>
    <p:sldId id="258" r:id="rId8"/>
    <p:sldId id="281" r:id="rId9"/>
    <p:sldId id="259" r:id="rId10"/>
    <p:sldId id="282" r:id="rId11"/>
    <p:sldId id="260" r:id="rId12"/>
    <p:sldId id="283" r:id="rId13"/>
    <p:sldId id="262" r:id="rId14"/>
    <p:sldId id="263" r:id="rId15"/>
    <p:sldId id="264" r:id="rId16"/>
    <p:sldId id="285" r:id="rId17"/>
    <p:sldId id="266" r:id="rId18"/>
    <p:sldId id="284" r:id="rId19"/>
    <p:sldId id="277" r:id="rId20"/>
    <p:sldId id="267" r:id="rId21"/>
    <p:sldId id="268" r:id="rId22"/>
    <p:sldId id="269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85A2"/>
    <a:srgbClr val="4B6889"/>
    <a:srgbClr val="3A46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727"/>
  </p:normalViewPr>
  <p:slideViewPr>
    <p:cSldViewPr snapToGrid="0">
      <p:cViewPr varScale="1">
        <p:scale>
          <a:sx n="85" d="100"/>
          <a:sy n="85" d="100"/>
        </p:scale>
        <p:origin x="10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4" Type="http://schemas.openxmlformats.org/officeDocument/2006/relationships/image" Target="../media/image2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4" Type="http://schemas.openxmlformats.org/officeDocument/2006/relationships/image" Target="../media/image2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2B18FA-748C-41B4-8611-E4273FD2D19B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8AA7C243-BCCB-49C1-B23B-61F2A681AE56}">
      <dgm:prSet/>
      <dgm:spPr/>
      <dgm:t>
        <a:bodyPr/>
        <a:lstStyle/>
        <a:p>
          <a:r>
            <a:rPr lang="en-US" b="1" dirty="0">
              <a:solidFill>
                <a:srgbClr val="4B6889"/>
              </a:solidFill>
            </a:rPr>
            <a:t>Reduces hallucination</a:t>
          </a:r>
          <a:r>
            <a:rPr lang="en-US" dirty="0">
              <a:solidFill>
                <a:srgbClr val="4B6889"/>
              </a:solidFill>
            </a:rPr>
            <a:t> by grounding in real data</a:t>
          </a:r>
        </a:p>
      </dgm:t>
    </dgm:pt>
    <dgm:pt modelId="{EE278DB0-98F0-4481-B454-61BD75A7CC50}" type="parTrans" cxnId="{5C892C0D-CBE1-4C88-B2C8-EEFEC291F049}">
      <dgm:prSet/>
      <dgm:spPr/>
      <dgm:t>
        <a:bodyPr/>
        <a:lstStyle/>
        <a:p>
          <a:endParaRPr lang="en-US"/>
        </a:p>
      </dgm:t>
    </dgm:pt>
    <dgm:pt modelId="{9BFD0A49-8376-4176-9E8D-6E591EED78EB}" type="sibTrans" cxnId="{5C892C0D-CBE1-4C88-B2C8-EEFEC291F049}">
      <dgm:prSet/>
      <dgm:spPr/>
      <dgm:t>
        <a:bodyPr/>
        <a:lstStyle/>
        <a:p>
          <a:endParaRPr lang="en-US"/>
        </a:p>
      </dgm:t>
    </dgm:pt>
    <dgm:pt modelId="{828B8841-36D8-4050-B0C7-FFDDAB2E77C2}">
      <dgm:prSet/>
      <dgm:spPr/>
      <dgm:t>
        <a:bodyPr/>
        <a:lstStyle/>
        <a:p>
          <a:r>
            <a:rPr lang="en-US" b="1" dirty="0">
              <a:solidFill>
                <a:srgbClr val="4B6889"/>
              </a:solidFill>
            </a:rPr>
            <a:t>Provides references</a:t>
          </a:r>
          <a:r>
            <a:rPr lang="en-US" dirty="0">
              <a:solidFill>
                <a:srgbClr val="4B6889"/>
              </a:solidFill>
            </a:rPr>
            <a:t> for fact-checking</a:t>
          </a:r>
        </a:p>
      </dgm:t>
    </dgm:pt>
    <dgm:pt modelId="{CCEC0DD1-E566-4EAB-BC8F-3D10AD0E87C2}" type="parTrans" cxnId="{B867749F-C345-469C-9683-BC1FE39BD39A}">
      <dgm:prSet/>
      <dgm:spPr/>
      <dgm:t>
        <a:bodyPr/>
        <a:lstStyle/>
        <a:p>
          <a:endParaRPr lang="en-US"/>
        </a:p>
      </dgm:t>
    </dgm:pt>
    <dgm:pt modelId="{45F7E8D1-E92A-42F0-A945-6D8262182990}" type="sibTrans" cxnId="{B867749F-C345-469C-9683-BC1FE39BD39A}">
      <dgm:prSet/>
      <dgm:spPr/>
      <dgm:t>
        <a:bodyPr/>
        <a:lstStyle/>
        <a:p>
          <a:endParaRPr lang="en-US"/>
        </a:p>
      </dgm:t>
    </dgm:pt>
    <dgm:pt modelId="{CF2EBA6A-A896-49FF-AF40-4E813289F723}">
      <dgm:prSet/>
      <dgm:spPr/>
      <dgm:t>
        <a:bodyPr/>
        <a:lstStyle/>
        <a:p>
          <a:r>
            <a:rPr lang="en-US" b="1" dirty="0">
              <a:solidFill>
                <a:srgbClr val="4B6889"/>
              </a:solidFill>
            </a:rPr>
            <a:t>Avoids fine-tuning</a:t>
          </a:r>
          <a:r>
            <a:rPr lang="en-US" dirty="0">
              <a:solidFill>
                <a:srgbClr val="4B6889"/>
              </a:solidFill>
            </a:rPr>
            <a:t> large models</a:t>
          </a:r>
        </a:p>
      </dgm:t>
    </dgm:pt>
    <dgm:pt modelId="{DD3734CA-AFB8-4C76-8673-8A8D0BD005B8}" type="parTrans" cxnId="{5FB37EC8-306A-4F4A-A4C6-3BBCEAAF8615}">
      <dgm:prSet/>
      <dgm:spPr/>
      <dgm:t>
        <a:bodyPr/>
        <a:lstStyle/>
        <a:p>
          <a:endParaRPr lang="en-US"/>
        </a:p>
      </dgm:t>
    </dgm:pt>
    <dgm:pt modelId="{96675D3A-7CBE-4FBA-81DD-78DAE64FA69C}" type="sibTrans" cxnId="{5FB37EC8-306A-4F4A-A4C6-3BBCEAAF8615}">
      <dgm:prSet/>
      <dgm:spPr/>
      <dgm:t>
        <a:bodyPr/>
        <a:lstStyle/>
        <a:p>
          <a:endParaRPr lang="en-US"/>
        </a:p>
      </dgm:t>
    </dgm:pt>
    <dgm:pt modelId="{A65ECE0D-D109-43F2-971D-BC8FEE96674D}">
      <dgm:prSet/>
      <dgm:spPr/>
      <dgm:t>
        <a:bodyPr/>
        <a:lstStyle/>
        <a:p>
          <a:r>
            <a:rPr lang="en-US" b="1" dirty="0">
              <a:solidFill>
                <a:srgbClr val="4B6889"/>
              </a:solidFill>
            </a:rPr>
            <a:t>Supports dynamic databases</a:t>
          </a:r>
          <a:r>
            <a:rPr lang="en-US" dirty="0">
              <a:solidFill>
                <a:srgbClr val="4B6889"/>
              </a:solidFill>
            </a:rPr>
            <a:t> (no retraining)</a:t>
          </a:r>
        </a:p>
      </dgm:t>
    </dgm:pt>
    <dgm:pt modelId="{CA474834-3871-4E67-9662-6AC8A41435A7}" type="parTrans" cxnId="{DA71DB37-1342-47B4-90C8-56D4735EB88C}">
      <dgm:prSet/>
      <dgm:spPr/>
      <dgm:t>
        <a:bodyPr/>
        <a:lstStyle/>
        <a:p>
          <a:endParaRPr lang="en-US"/>
        </a:p>
      </dgm:t>
    </dgm:pt>
    <dgm:pt modelId="{88A9DBF3-A94B-4A18-B882-732AE3431458}" type="sibTrans" cxnId="{DA71DB37-1342-47B4-90C8-56D4735EB88C}">
      <dgm:prSet/>
      <dgm:spPr/>
      <dgm:t>
        <a:bodyPr/>
        <a:lstStyle/>
        <a:p>
          <a:endParaRPr lang="en-US"/>
        </a:p>
      </dgm:t>
    </dgm:pt>
    <dgm:pt modelId="{0A38C8BA-6888-41C0-9418-A8CB5D0EF6DE}">
      <dgm:prSet/>
      <dgm:spPr/>
      <dgm:t>
        <a:bodyPr/>
        <a:lstStyle/>
        <a:p>
          <a:r>
            <a:rPr lang="en-US" b="1" dirty="0">
              <a:solidFill>
                <a:srgbClr val="4B6889"/>
              </a:solidFill>
            </a:rPr>
            <a:t>Improves privacy</a:t>
          </a:r>
          <a:r>
            <a:rPr lang="en-US" dirty="0">
              <a:solidFill>
                <a:srgbClr val="4B6889"/>
              </a:solidFill>
            </a:rPr>
            <a:t> by minimizing prompt leaks</a:t>
          </a:r>
        </a:p>
      </dgm:t>
    </dgm:pt>
    <dgm:pt modelId="{47FDB8BB-D075-4377-BB96-05F1F2E80E96}" type="parTrans" cxnId="{57B474BE-0243-4FCA-A5E0-87CA6918B611}">
      <dgm:prSet/>
      <dgm:spPr/>
      <dgm:t>
        <a:bodyPr/>
        <a:lstStyle/>
        <a:p>
          <a:endParaRPr lang="en-US"/>
        </a:p>
      </dgm:t>
    </dgm:pt>
    <dgm:pt modelId="{D42C5911-0F3B-4A87-8DFE-CA20A0A32BA6}" type="sibTrans" cxnId="{57B474BE-0243-4FCA-A5E0-87CA6918B611}">
      <dgm:prSet/>
      <dgm:spPr/>
      <dgm:t>
        <a:bodyPr/>
        <a:lstStyle/>
        <a:p>
          <a:endParaRPr lang="en-US"/>
        </a:p>
      </dgm:t>
    </dgm:pt>
    <dgm:pt modelId="{BBFC2ED3-7EEE-4762-B94E-C38EC2D56586}">
      <dgm:prSet/>
      <dgm:spPr/>
      <dgm:t>
        <a:bodyPr/>
        <a:lstStyle/>
        <a:p>
          <a:r>
            <a:rPr lang="en-US" b="1" dirty="0">
              <a:solidFill>
                <a:srgbClr val="4B6889"/>
              </a:solidFill>
            </a:rPr>
            <a:t>Example</a:t>
          </a:r>
          <a:r>
            <a:rPr lang="en-US" dirty="0">
              <a:solidFill>
                <a:srgbClr val="4B6889"/>
              </a:solidFill>
            </a:rPr>
            <a:t>: Customer support bot uses RAG to answer from internal support docs instead of relying on pre-trained data</a:t>
          </a:r>
        </a:p>
      </dgm:t>
    </dgm:pt>
    <dgm:pt modelId="{3E605324-711F-4D6D-90E3-F08F6810C211}" type="parTrans" cxnId="{BEB64C14-5356-48AB-8BA8-5661307408FD}">
      <dgm:prSet/>
      <dgm:spPr/>
      <dgm:t>
        <a:bodyPr/>
        <a:lstStyle/>
        <a:p>
          <a:endParaRPr lang="en-US"/>
        </a:p>
      </dgm:t>
    </dgm:pt>
    <dgm:pt modelId="{8C08676D-7963-4BBD-A620-9D18CF202E0C}" type="sibTrans" cxnId="{BEB64C14-5356-48AB-8BA8-5661307408FD}">
      <dgm:prSet/>
      <dgm:spPr/>
      <dgm:t>
        <a:bodyPr/>
        <a:lstStyle/>
        <a:p>
          <a:endParaRPr lang="en-US"/>
        </a:p>
      </dgm:t>
    </dgm:pt>
    <dgm:pt modelId="{DB289356-5494-3C40-A294-9331AFBC8660}" type="pres">
      <dgm:prSet presAssocID="{5D2B18FA-748C-41B4-8611-E4273FD2D19B}" presName="vert0" presStyleCnt="0">
        <dgm:presLayoutVars>
          <dgm:dir/>
          <dgm:animOne val="branch"/>
          <dgm:animLvl val="lvl"/>
        </dgm:presLayoutVars>
      </dgm:prSet>
      <dgm:spPr/>
    </dgm:pt>
    <dgm:pt modelId="{4C303497-54FB-654E-A11C-9AF6B59207EE}" type="pres">
      <dgm:prSet presAssocID="{8AA7C243-BCCB-49C1-B23B-61F2A681AE56}" presName="thickLine" presStyleLbl="alignNode1" presStyleIdx="0" presStyleCnt="6"/>
      <dgm:spPr/>
    </dgm:pt>
    <dgm:pt modelId="{7F92790D-07CE-B644-AB39-D3FEE1675A08}" type="pres">
      <dgm:prSet presAssocID="{8AA7C243-BCCB-49C1-B23B-61F2A681AE56}" presName="horz1" presStyleCnt="0"/>
      <dgm:spPr/>
    </dgm:pt>
    <dgm:pt modelId="{93B91229-20BD-B844-A35D-748883AA60D0}" type="pres">
      <dgm:prSet presAssocID="{8AA7C243-BCCB-49C1-B23B-61F2A681AE56}" presName="tx1" presStyleLbl="revTx" presStyleIdx="0" presStyleCnt="6"/>
      <dgm:spPr/>
    </dgm:pt>
    <dgm:pt modelId="{65B7EB98-96DF-0243-8AF9-32B8B31785F3}" type="pres">
      <dgm:prSet presAssocID="{8AA7C243-BCCB-49C1-B23B-61F2A681AE56}" presName="vert1" presStyleCnt="0"/>
      <dgm:spPr/>
    </dgm:pt>
    <dgm:pt modelId="{70FF6AED-E6C1-3F46-AE0A-C79A3BE4C957}" type="pres">
      <dgm:prSet presAssocID="{828B8841-36D8-4050-B0C7-FFDDAB2E77C2}" presName="thickLine" presStyleLbl="alignNode1" presStyleIdx="1" presStyleCnt="6"/>
      <dgm:spPr/>
    </dgm:pt>
    <dgm:pt modelId="{70D9D57E-19F7-4E4E-8332-7DD94C39C805}" type="pres">
      <dgm:prSet presAssocID="{828B8841-36D8-4050-B0C7-FFDDAB2E77C2}" presName="horz1" presStyleCnt="0"/>
      <dgm:spPr/>
    </dgm:pt>
    <dgm:pt modelId="{F151ACD2-B704-654F-8000-A57BF3B6DF9F}" type="pres">
      <dgm:prSet presAssocID="{828B8841-36D8-4050-B0C7-FFDDAB2E77C2}" presName="tx1" presStyleLbl="revTx" presStyleIdx="1" presStyleCnt="6"/>
      <dgm:spPr/>
    </dgm:pt>
    <dgm:pt modelId="{E18F6DA3-B59D-5A4D-AA61-79A293FD0F88}" type="pres">
      <dgm:prSet presAssocID="{828B8841-36D8-4050-B0C7-FFDDAB2E77C2}" presName="vert1" presStyleCnt="0"/>
      <dgm:spPr/>
    </dgm:pt>
    <dgm:pt modelId="{08A1DE1C-D654-4148-A429-A671628B84EB}" type="pres">
      <dgm:prSet presAssocID="{CF2EBA6A-A896-49FF-AF40-4E813289F723}" presName="thickLine" presStyleLbl="alignNode1" presStyleIdx="2" presStyleCnt="6"/>
      <dgm:spPr/>
    </dgm:pt>
    <dgm:pt modelId="{08FAFCBA-2EA9-854C-811B-F9571CF847EF}" type="pres">
      <dgm:prSet presAssocID="{CF2EBA6A-A896-49FF-AF40-4E813289F723}" presName="horz1" presStyleCnt="0"/>
      <dgm:spPr/>
    </dgm:pt>
    <dgm:pt modelId="{07BB5E4E-B94B-604F-A017-C11DAA3BC582}" type="pres">
      <dgm:prSet presAssocID="{CF2EBA6A-A896-49FF-AF40-4E813289F723}" presName="tx1" presStyleLbl="revTx" presStyleIdx="2" presStyleCnt="6"/>
      <dgm:spPr/>
    </dgm:pt>
    <dgm:pt modelId="{B9B4CA0C-7C33-0548-8D69-F7706DEE7DE3}" type="pres">
      <dgm:prSet presAssocID="{CF2EBA6A-A896-49FF-AF40-4E813289F723}" presName="vert1" presStyleCnt="0"/>
      <dgm:spPr/>
    </dgm:pt>
    <dgm:pt modelId="{11D39312-1A1D-7345-AC57-7CB69058AFE1}" type="pres">
      <dgm:prSet presAssocID="{A65ECE0D-D109-43F2-971D-BC8FEE96674D}" presName="thickLine" presStyleLbl="alignNode1" presStyleIdx="3" presStyleCnt="6"/>
      <dgm:spPr/>
    </dgm:pt>
    <dgm:pt modelId="{7554D121-1525-2040-A412-0938058E260C}" type="pres">
      <dgm:prSet presAssocID="{A65ECE0D-D109-43F2-971D-BC8FEE96674D}" presName="horz1" presStyleCnt="0"/>
      <dgm:spPr/>
    </dgm:pt>
    <dgm:pt modelId="{C827F65D-B87D-7F44-AF61-9569CE3B0390}" type="pres">
      <dgm:prSet presAssocID="{A65ECE0D-D109-43F2-971D-BC8FEE96674D}" presName="tx1" presStyleLbl="revTx" presStyleIdx="3" presStyleCnt="6"/>
      <dgm:spPr/>
    </dgm:pt>
    <dgm:pt modelId="{817A6F09-9056-9745-A784-8A30B128DAE8}" type="pres">
      <dgm:prSet presAssocID="{A65ECE0D-D109-43F2-971D-BC8FEE96674D}" presName="vert1" presStyleCnt="0"/>
      <dgm:spPr/>
    </dgm:pt>
    <dgm:pt modelId="{97EC6A5E-7108-2848-BD5C-4CEA4F988281}" type="pres">
      <dgm:prSet presAssocID="{0A38C8BA-6888-41C0-9418-A8CB5D0EF6DE}" presName="thickLine" presStyleLbl="alignNode1" presStyleIdx="4" presStyleCnt="6"/>
      <dgm:spPr/>
    </dgm:pt>
    <dgm:pt modelId="{F4DCBC02-93AA-0246-9566-409B2814DA67}" type="pres">
      <dgm:prSet presAssocID="{0A38C8BA-6888-41C0-9418-A8CB5D0EF6DE}" presName="horz1" presStyleCnt="0"/>
      <dgm:spPr/>
    </dgm:pt>
    <dgm:pt modelId="{19992AC4-D4C0-234B-A45D-5735EB76058E}" type="pres">
      <dgm:prSet presAssocID="{0A38C8BA-6888-41C0-9418-A8CB5D0EF6DE}" presName="tx1" presStyleLbl="revTx" presStyleIdx="4" presStyleCnt="6"/>
      <dgm:spPr/>
    </dgm:pt>
    <dgm:pt modelId="{E21F9611-4FBB-DC4F-9FE3-4E5F66F8754A}" type="pres">
      <dgm:prSet presAssocID="{0A38C8BA-6888-41C0-9418-A8CB5D0EF6DE}" presName="vert1" presStyleCnt="0"/>
      <dgm:spPr/>
    </dgm:pt>
    <dgm:pt modelId="{C83F23D5-B8A8-1845-8EC6-49BEC18D4246}" type="pres">
      <dgm:prSet presAssocID="{BBFC2ED3-7EEE-4762-B94E-C38EC2D56586}" presName="thickLine" presStyleLbl="alignNode1" presStyleIdx="5" presStyleCnt="6"/>
      <dgm:spPr/>
    </dgm:pt>
    <dgm:pt modelId="{FC001B65-2531-0146-9DBA-F5BDC4DF5EA7}" type="pres">
      <dgm:prSet presAssocID="{BBFC2ED3-7EEE-4762-B94E-C38EC2D56586}" presName="horz1" presStyleCnt="0"/>
      <dgm:spPr/>
    </dgm:pt>
    <dgm:pt modelId="{BCC2EA79-57A8-B346-9614-CC0B0B1056DC}" type="pres">
      <dgm:prSet presAssocID="{BBFC2ED3-7EEE-4762-B94E-C38EC2D56586}" presName="tx1" presStyleLbl="revTx" presStyleIdx="5" presStyleCnt="6"/>
      <dgm:spPr/>
    </dgm:pt>
    <dgm:pt modelId="{88B02B39-4E85-CE4F-85F9-21AEB3308758}" type="pres">
      <dgm:prSet presAssocID="{BBFC2ED3-7EEE-4762-B94E-C38EC2D56586}" presName="vert1" presStyleCnt="0"/>
      <dgm:spPr/>
    </dgm:pt>
  </dgm:ptLst>
  <dgm:cxnLst>
    <dgm:cxn modelId="{43001902-28CC-6144-9D09-17161C1B3D9C}" type="presOf" srcId="{A65ECE0D-D109-43F2-971D-BC8FEE96674D}" destId="{C827F65D-B87D-7F44-AF61-9569CE3B0390}" srcOrd="0" destOrd="0" presId="urn:microsoft.com/office/officeart/2008/layout/LinedList"/>
    <dgm:cxn modelId="{5C892C0D-CBE1-4C88-B2C8-EEFEC291F049}" srcId="{5D2B18FA-748C-41B4-8611-E4273FD2D19B}" destId="{8AA7C243-BCCB-49C1-B23B-61F2A681AE56}" srcOrd="0" destOrd="0" parTransId="{EE278DB0-98F0-4481-B454-61BD75A7CC50}" sibTransId="{9BFD0A49-8376-4176-9E8D-6E591EED78EB}"/>
    <dgm:cxn modelId="{BEB64C14-5356-48AB-8BA8-5661307408FD}" srcId="{5D2B18FA-748C-41B4-8611-E4273FD2D19B}" destId="{BBFC2ED3-7EEE-4762-B94E-C38EC2D56586}" srcOrd="5" destOrd="0" parTransId="{3E605324-711F-4D6D-90E3-F08F6810C211}" sibTransId="{8C08676D-7963-4BBD-A620-9D18CF202E0C}"/>
    <dgm:cxn modelId="{D346DE18-4862-F34F-A5FF-4020CF74CB7A}" type="presOf" srcId="{CF2EBA6A-A896-49FF-AF40-4E813289F723}" destId="{07BB5E4E-B94B-604F-A017-C11DAA3BC582}" srcOrd="0" destOrd="0" presId="urn:microsoft.com/office/officeart/2008/layout/LinedList"/>
    <dgm:cxn modelId="{DA71DB37-1342-47B4-90C8-56D4735EB88C}" srcId="{5D2B18FA-748C-41B4-8611-E4273FD2D19B}" destId="{A65ECE0D-D109-43F2-971D-BC8FEE96674D}" srcOrd="3" destOrd="0" parTransId="{CA474834-3871-4E67-9662-6AC8A41435A7}" sibTransId="{88A9DBF3-A94B-4A18-B882-732AE3431458}"/>
    <dgm:cxn modelId="{F6665A64-DDE6-F443-B471-9B0C98D11051}" type="presOf" srcId="{0A38C8BA-6888-41C0-9418-A8CB5D0EF6DE}" destId="{19992AC4-D4C0-234B-A45D-5735EB76058E}" srcOrd="0" destOrd="0" presId="urn:microsoft.com/office/officeart/2008/layout/LinedList"/>
    <dgm:cxn modelId="{BCB1CE82-1366-1A49-B440-7140CC3B3A73}" type="presOf" srcId="{828B8841-36D8-4050-B0C7-FFDDAB2E77C2}" destId="{F151ACD2-B704-654F-8000-A57BF3B6DF9F}" srcOrd="0" destOrd="0" presId="urn:microsoft.com/office/officeart/2008/layout/LinedList"/>
    <dgm:cxn modelId="{B867749F-C345-469C-9683-BC1FE39BD39A}" srcId="{5D2B18FA-748C-41B4-8611-E4273FD2D19B}" destId="{828B8841-36D8-4050-B0C7-FFDDAB2E77C2}" srcOrd="1" destOrd="0" parTransId="{CCEC0DD1-E566-4EAB-BC8F-3D10AD0E87C2}" sibTransId="{45F7E8D1-E92A-42F0-A945-6D8262182990}"/>
    <dgm:cxn modelId="{C3CE94BA-69F4-B741-B443-C34591DCA8BD}" type="presOf" srcId="{BBFC2ED3-7EEE-4762-B94E-C38EC2D56586}" destId="{BCC2EA79-57A8-B346-9614-CC0B0B1056DC}" srcOrd="0" destOrd="0" presId="urn:microsoft.com/office/officeart/2008/layout/LinedList"/>
    <dgm:cxn modelId="{57B474BE-0243-4FCA-A5E0-87CA6918B611}" srcId="{5D2B18FA-748C-41B4-8611-E4273FD2D19B}" destId="{0A38C8BA-6888-41C0-9418-A8CB5D0EF6DE}" srcOrd="4" destOrd="0" parTransId="{47FDB8BB-D075-4377-BB96-05F1F2E80E96}" sibTransId="{D42C5911-0F3B-4A87-8DFE-CA20A0A32BA6}"/>
    <dgm:cxn modelId="{5FB37EC8-306A-4F4A-A4C6-3BBCEAAF8615}" srcId="{5D2B18FA-748C-41B4-8611-E4273FD2D19B}" destId="{CF2EBA6A-A896-49FF-AF40-4E813289F723}" srcOrd="2" destOrd="0" parTransId="{DD3734CA-AFB8-4C76-8673-8A8D0BD005B8}" sibTransId="{96675D3A-7CBE-4FBA-81DD-78DAE64FA69C}"/>
    <dgm:cxn modelId="{FA77A0F3-565B-0A49-8E73-81A2D587BC7B}" type="presOf" srcId="{8AA7C243-BCCB-49C1-B23B-61F2A681AE56}" destId="{93B91229-20BD-B844-A35D-748883AA60D0}" srcOrd="0" destOrd="0" presId="urn:microsoft.com/office/officeart/2008/layout/LinedList"/>
    <dgm:cxn modelId="{FB9F3FFA-DCBE-984F-81A3-47EAE015E814}" type="presOf" srcId="{5D2B18FA-748C-41B4-8611-E4273FD2D19B}" destId="{DB289356-5494-3C40-A294-9331AFBC8660}" srcOrd="0" destOrd="0" presId="urn:microsoft.com/office/officeart/2008/layout/LinedList"/>
    <dgm:cxn modelId="{F852E992-522F-6E4A-943B-9C88207725BB}" type="presParOf" srcId="{DB289356-5494-3C40-A294-9331AFBC8660}" destId="{4C303497-54FB-654E-A11C-9AF6B59207EE}" srcOrd="0" destOrd="0" presId="urn:microsoft.com/office/officeart/2008/layout/LinedList"/>
    <dgm:cxn modelId="{50F9BEA9-7CE4-4646-ABB3-3C835D762D38}" type="presParOf" srcId="{DB289356-5494-3C40-A294-9331AFBC8660}" destId="{7F92790D-07CE-B644-AB39-D3FEE1675A08}" srcOrd="1" destOrd="0" presId="urn:microsoft.com/office/officeart/2008/layout/LinedList"/>
    <dgm:cxn modelId="{FF6188EE-7546-7C4B-AC7D-C9297E0A1B29}" type="presParOf" srcId="{7F92790D-07CE-B644-AB39-D3FEE1675A08}" destId="{93B91229-20BD-B844-A35D-748883AA60D0}" srcOrd="0" destOrd="0" presId="urn:microsoft.com/office/officeart/2008/layout/LinedList"/>
    <dgm:cxn modelId="{69053FB8-ACAF-8D40-8B8D-4B4F2A6913B1}" type="presParOf" srcId="{7F92790D-07CE-B644-AB39-D3FEE1675A08}" destId="{65B7EB98-96DF-0243-8AF9-32B8B31785F3}" srcOrd="1" destOrd="0" presId="urn:microsoft.com/office/officeart/2008/layout/LinedList"/>
    <dgm:cxn modelId="{964267F7-C599-9A44-9A10-8844FF1D5AA5}" type="presParOf" srcId="{DB289356-5494-3C40-A294-9331AFBC8660}" destId="{70FF6AED-E6C1-3F46-AE0A-C79A3BE4C957}" srcOrd="2" destOrd="0" presId="urn:microsoft.com/office/officeart/2008/layout/LinedList"/>
    <dgm:cxn modelId="{E1AFF92B-71A8-414B-828B-90A6CEE4E29C}" type="presParOf" srcId="{DB289356-5494-3C40-A294-9331AFBC8660}" destId="{70D9D57E-19F7-4E4E-8332-7DD94C39C805}" srcOrd="3" destOrd="0" presId="urn:microsoft.com/office/officeart/2008/layout/LinedList"/>
    <dgm:cxn modelId="{A4F402B5-2400-474C-A9C6-D8B699C3AFE9}" type="presParOf" srcId="{70D9D57E-19F7-4E4E-8332-7DD94C39C805}" destId="{F151ACD2-B704-654F-8000-A57BF3B6DF9F}" srcOrd="0" destOrd="0" presId="urn:microsoft.com/office/officeart/2008/layout/LinedList"/>
    <dgm:cxn modelId="{FD3C3E63-6B60-5445-BB26-6640EFC7E3D9}" type="presParOf" srcId="{70D9D57E-19F7-4E4E-8332-7DD94C39C805}" destId="{E18F6DA3-B59D-5A4D-AA61-79A293FD0F88}" srcOrd="1" destOrd="0" presId="urn:microsoft.com/office/officeart/2008/layout/LinedList"/>
    <dgm:cxn modelId="{0A97F813-3171-B64E-B6E6-3260182C7ED3}" type="presParOf" srcId="{DB289356-5494-3C40-A294-9331AFBC8660}" destId="{08A1DE1C-D654-4148-A429-A671628B84EB}" srcOrd="4" destOrd="0" presId="urn:microsoft.com/office/officeart/2008/layout/LinedList"/>
    <dgm:cxn modelId="{1FEEAB03-3808-C942-900C-9CC72BE96C77}" type="presParOf" srcId="{DB289356-5494-3C40-A294-9331AFBC8660}" destId="{08FAFCBA-2EA9-854C-811B-F9571CF847EF}" srcOrd="5" destOrd="0" presId="urn:microsoft.com/office/officeart/2008/layout/LinedList"/>
    <dgm:cxn modelId="{0D768A99-08D6-3B41-BB51-662D8853B0E4}" type="presParOf" srcId="{08FAFCBA-2EA9-854C-811B-F9571CF847EF}" destId="{07BB5E4E-B94B-604F-A017-C11DAA3BC582}" srcOrd="0" destOrd="0" presId="urn:microsoft.com/office/officeart/2008/layout/LinedList"/>
    <dgm:cxn modelId="{E3ED5F5B-5A46-BE42-9F8F-09E2F6A2F569}" type="presParOf" srcId="{08FAFCBA-2EA9-854C-811B-F9571CF847EF}" destId="{B9B4CA0C-7C33-0548-8D69-F7706DEE7DE3}" srcOrd="1" destOrd="0" presId="urn:microsoft.com/office/officeart/2008/layout/LinedList"/>
    <dgm:cxn modelId="{E2F1733A-6914-1142-BFB2-D88B0EC15DAC}" type="presParOf" srcId="{DB289356-5494-3C40-A294-9331AFBC8660}" destId="{11D39312-1A1D-7345-AC57-7CB69058AFE1}" srcOrd="6" destOrd="0" presId="urn:microsoft.com/office/officeart/2008/layout/LinedList"/>
    <dgm:cxn modelId="{A3610140-E9D4-F643-B4A3-F3A90817CFA4}" type="presParOf" srcId="{DB289356-5494-3C40-A294-9331AFBC8660}" destId="{7554D121-1525-2040-A412-0938058E260C}" srcOrd="7" destOrd="0" presId="urn:microsoft.com/office/officeart/2008/layout/LinedList"/>
    <dgm:cxn modelId="{B95A7CC6-3E20-FB44-BC39-8497FD0953AB}" type="presParOf" srcId="{7554D121-1525-2040-A412-0938058E260C}" destId="{C827F65D-B87D-7F44-AF61-9569CE3B0390}" srcOrd="0" destOrd="0" presId="urn:microsoft.com/office/officeart/2008/layout/LinedList"/>
    <dgm:cxn modelId="{24E1DADF-0077-464B-9ABF-B783DD53D567}" type="presParOf" srcId="{7554D121-1525-2040-A412-0938058E260C}" destId="{817A6F09-9056-9745-A784-8A30B128DAE8}" srcOrd="1" destOrd="0" presId="urn:microsoft.com/office/officeart/2008/layout/LinedList"/>
    <dgm:cxn modelId="{54D9323E-1EF4-CD41-9288-DF22E5C72C05}" type="presParOf" srcId="{DB289356-5494-3C40-A294-9331AFBC8660}" destId="{97EC6A5E-7108-2848-BD5C-4CEA4F988281}" srcOrd="8" destOrd="0" presId="urn:microsoft.com/office/officeart/2008/layout/LinedList"/>
    <dgm:cxn modelId="{55156B09-79DD-344B-B961-73BB6254BD22}" type="presParOf" srcId="{DB289356-5494-3C40-A294-9331AFBC8660}" destId="{F4DCBC02-93AA-0246-9566-409B2814DA67}" srcOrd="9" destOrd="0" presId="urn:microsoft.com/office/officeart/2008/layout/LinedList"/>
    <dgm:cxn modelId="{A7DBC79A-CF2D-DF43-980B-E910FC924E04}" type="presParOf" srcId="{F4DCBC02-93AA-0246-9566-409B2814DA67}" destId="{19992AC4-D4C0-234B-A45D-5735EB76058E}" srcOrd="0" destOrd="0" presId="urn:microsoft.com/office/officeart/2008/layout/LinedList"/>
    <dgm:cxn modelId="{12A4A7D6-3F4D-D948-82F8-4BC323DB4499}" type="presParOf" srcId="{F4DCBC02-93AA-0246-9566-409B2814DA67}" destId="{E21F9611-4FBB-DC4F-9FE3-4E5F66F8754A}" srcOrd="1" destOrd="0" presId="urn:microsoft.com/office/officeart/2008/layout/LinedList"/>
    <dgm:cxn modelId="{91FA8FF8-651E-2542-8075-383B5F69CDEF}" type="presParOf" srcId="{DB289356-5494-3C40-A294-9331AFBC8660}" destId="{C83F23D5-B8A8-1845-8EC6-49BEC18D4246}" srcOrd="10" destOrd="0" presId="urn:microsoft.com/office/officeart/2008/layout/LinedList"/>
    <dgm:cxn modelId="{B4B8FE04-C5AF-4140-8369-119E71C3C3A0}" type="presParOf" srcId="{DB289356-5494-3C40-A294-9331AFBC8660}" destId="{FC001B65-2531-0146-9DBA-F5BDC4DF5EA7}" srcOrd="11" destOrd="0" presId="urn:microsoft.com/office/officeart/2008/layout/LinedList"/>
    <dgm:cxn modelId="{AB79E8BB-433B-0243-B480-9994162C929B}" type="presParOf" srcId="{FC001B65-2531-0146-9DBA-F5BDC4DF5EA7}" destId="{BCC2EA79-57A8-B346-9614-CC0B0B1056DC}" srcOrd="0" destOrd="0" presId="urn:microsoft.com/office/officeart/2008/layout/LinedList"/>
    <dgm:cxn modelId="{7F1C86C9-CA37-024E-8901-D190AF9401C1}" type="presParOf" srcId="{FC001B65-2531-0146-9DBA-F5BDC4DF5EA7}" destId="{88B02B39-4E85-CE4F-85F9-21AEB330875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D2B18FA-748C-41B4-8611-E4273FD2D19B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8AA7C243-BCCB-49C1-B23B-61F2A681AE56}">
      <dgm:prSet/>
      <dgm:spPr/>
      <dgm:t>
        <a:bodyPr/>
        <a:lstStyle/>
        <a:p>
          <a:r>
            <a:rPr lang="en-US" b="0" dirty="0">
              <a:solidFill>
                <a:srgbClr val="4B6889"/>
              </a:solidFill>
            </a:rPr>
            <a:t>Retrieval quality affects response quality</a:t>
          </a:r>
        </a:p>
      </dgm:t>
    </dgm:pt>
    <dgm:pt modelId="{EE278DB0-98F0-4481-B454-61BD75A7CC50}" type="parTrans" cxnId="{5C892C0D-CBE1-4C88-B2C8-EEFEC291F049}">
      <dgm:prSet/>
      <dgm:spPr/>
      <dgm:t>
        <a:bodyPr/>
        <a:lstStyle/>
        <a:p>
          <a:endParaRPr lang="en-US"/>
        </a:p>
      </dgm:t>
    </dgm:pt>
    <dgm:pt modelId="{9BFD0A49-8376-4176-9E8D-6E591EED78EB}" type="sibTrans" cxnId="{5C892C0D-CBE1-4C88-B2C8-EEFEC291F049}">
      <dgm:prSet/>
      <dgm:spPr/>
      <dgm:t>
        <a:bodyPr/>
        <a:lstStyle/>
        <a:p>
          <a:endParaRPr lang="en-US"/>
        </a:p>
      </dgm:t>
    </dgm:pt>
    <dgm:pt modelId="{828B8841-36D8-4050-B0C7-FFDDAB2E77C2}">
      <dgm:prSet/>
      <dgm:spPr/>
      <dgm:t>
        <a:bodyPr/>
        <a:lstStyle/>
        <a:p>
          <a:r>
            <a:rPr lang="en-US" b="0" dirty="0">
              <a:solidFill>
                <a:srgbClr val="4B6889"/>
              </a:solidFill>
            </a:rPr>
            <a:t>Context length limits in LLM</a:t>
          </a:r>
        </a:p>
      </dgm:t>
    </dgm:pt>
    <dgm:pt modelId="{CCEC0DD1-E566-4EAB-BC8F-3D10AD0E87C2}" type="parTrans" cxnId="{B867749F-C345-469C-9683-BC1FE39BD39A}">
      <dgm:prSet/>
      <dgm:spPr/>
      <dgm:t>
        <a:bodyPr/>
        <a:lstStyle/>
        <a:p>
          <a:endParaRPr lang="en-US"/>
        </a:p>
      </dgm:t>
    </dgm:pt>
    <dgm:pt modelId="{45F7E8D1-E92A-42F0-A945-6D8262182990}" type="sibTrans" cxnId="{B867749F-C345-469C-9683-BC1FE39BD39A}">
      <dgm:prSet/>
      <dgm:spPr/>
      <dgm:t>
        <a:bodyPr/>
        <a:lstStyle/>
        <a:p>
          <a:endParaRPr lang="en-US"/>
        </a:p>
      </dgm:t>
    </dgm:pt>
    <dgm:pt modelId="{CF2EBA6A-A896-49FF-AF40-4E813289F723}">
      <dgm:prSet/>
      <dgm:spPr/>
      <dgm:t>
        <a:bodyPr/>
        <a:lstStyle/>
        <a:p>
          <a:r>
            <a:rPr lang="en-US" dirty="0">
              <a:solidFill>
                <a:srgbClr val="4B6889"/>
              </a:solidFill>
            </a:rPr>
            <a:t>Requires</a:t>
          </a:r>
          <a:r>
            <a:rPr lang="en-US" baseline="0" dirty="0">
              <a:solidFill>
                <a:srgbClr val="4B6889"/>
              </a:solidFill>
            </a:rPr>
            <a:t> well-maintained Vector DB</a:t>
          </a:r>
          <a:endParaRPr lang="en-US" dirty="0">
            <a:solidFill>
              <a:srgbClr val="4B6889"/>
            </a:solidFill>
          </a:endParaRPr>
        </a:p>
      </dgm:t>
    </dgm:pt>
    <dgm:pt modelId="{DD3734CA-AFB8-4C76-8673-8A8D0BD005B8}" type="parTrans" cxnId="{5FB37EC8-306A-4F4A-A4C6-3BBCEAAF8615}">
      <dgm:prSet/>
      <dgm:spPr/>
      <dgm:t>
        <a:bodyPr/>
        <a:lstStyle/>
        <a:p>
          <a:endParaRPr lang="en-US"/>
        </a:p>
      </dgm:t>
    </dgm:pt>
    <dgm:pt modelId="{96675D3A-7CBE-4FBA-81DD-78DAE64FA69C}" type="sibTrans" cxnId="{5FB37EC8-306A-4F4A-A4C6-3BBCEAAF8615}">
      <dgm:prSet/>
      <dgm:spPr/>
      <dgm:t>
        <a:bodyPr/>
        <a:lstStyle/>
        <a:p>
          <a:endParaRPr lang="en-US"/>
        </a:p>
      </dgm:t>
    </dgm:pt>
    <dgm:pt modelId="{A65ECE0D-D109-43F2-971D-BC8FEE96674D}">
      <dgm:prSet/>
      <dgm:spPr/>
      <dgm:t>
        <a:bodyPr/>
        <a:lstStyle/>
        <a:p>
          <a:r>
            <a:rPr lang="en-US" dirty="0">
              <a:solidFill>
                <a:srgbClr val="4B6889"/>
              </a:solidFill>
            </a:rPr>
            <a:t>May still need post-retrieval re-ranking</a:t>
          </a:r>
        </a:p>
      </dgm:t>
    </dgm:pt>
    <dgm:pt modelId="{CA474834-3871-4E67-9662-6AC8A41435A7}" type="parTrans" cxnId="{DA71DB37-1342-47B4-90C8-56D4735EB88C}">
      <dgm:prSet/>
      <dgm:spPr/>
      <dgm:t>
        <a:bodyPr/>
        <a:lstStyle/>
        <a:p>
          <a:endParaRPr lang="en-US"/>
        </a:p>
      </dgm:t>
    </dgm:pt>
    <dgm:pt modelId="{88A9DBF3-A94B-4A18-B882-732AE3431458}" type="sibTrans" cxnId="{DA71DB37-1342-47B4-90C8-56D4735EB88C}">
      <dgm:prSet/>
      <dgm:spPr/>
      <dgm:t>
        <a:bodyPr/>
        <a:lstStyle/>
        <a:p>
          <a:endParaRPr lang="en-US"/>
        </a:p>
      </dgm:t>
    </dgm:pt>
    <dgm:pt modelId="{0A38C8BA-6888-41C0-9418-A8CB5D0EF6DE}">
      <dgm:prSet/>
      <dgm:spPr/>
      <dgm:t>
        <a:bodyPr/>
        <a:lstStyle/>
        <a:p>
          <a:r>
            <a:rPr lang="en-US" b="0" dirty="0">
              <a:solidFill>
                <a:srgbClr val="4B6889"/>
              </a:solidFill>
            </a:rPr>
            <a:t>If irrelevant documents are retrieved due to poor embedding, answer quality drops significantly </a:t>
          </a:r>
        </a:p>
      </dgm:t>
    </dgm:pt>
    <dgm:pt modelId="{47FDB8BB-D075-4377-BB96-05F1F2E80E96}" type="parTrans" cxnId="{57B474BE-0243-4FCA-A5E0-87CA6918B611}">
      <dgm:prSet/>
      <dgm:spPr/>
      <dgm:t>
        <a:bodyPr/>
        <a:lstStyle/>
        <a:p>
          <a:endParaRPr lang="en-US"/>
        </a:p>
      </dgm:t>
    </dgm:pt>
    <dgm:pt modelId="{D42C5911-0F3B-4A87-8DFE-CA20A0A32BA6}" type="sibTrans" cxnId="{57B474BE-0243-4FCA-A5E0-87CA6918B611}">
      <dgm:prSet/>
      <dgm:spPr/>
      <dgm:t>
        <a:bodyPr/>
        <a:lstStyle/>
        <a:p>
          <a:endParaRPr lang="en-US"/>
        </a:p>
      </dgm:t>
    </dgm:pt>
    <dgm:pt modelId="{BBFC2ED3-7EEE-4762-B94E-C38EC2D56586}">
      <dgm:prSet/>
      <dgm:spPr/>
      <dgm:t>
        <a:bodyPr/>
        <a:lstStyle/>
        <a:p>
          <a:endParaRPr lang="en-US" dirty="0"/>
        </a:p>
      </dgm:t>
    </dgm:pt>
    <dgm:pt modelId="{3E605324-711F-4D6D-90E3-F08F6810C211}" type="parTrans" cxnId="{BEB64C14-5356-48AB-8BA8-5661307408FD}">
      <dgm:prSet/>
      <dgm:spPr/>
      <dgm:t>
        <a:bodyPr/>
        <a:lstStyle/>
        <a:p>
          <a:endParaRPr lang="en-US"/>
        </a:p>
      </dgm:t>
    </dgm:pt>
    <dgm:pt modelId="{8C08676D-7963-4BBD-A620-9D18CF202E0C}" type="sibTrans" cxnId="{BEB64C14-5356-48AB-8BA8-5661307408FD}">
      <dgm:prSet/>
      <dgm:spPr/>
      <dgm:t>
        <a:bodyPr/>
        <a:lstStyle/>
        <a:p>
          <a:endParaRPr lang="en-US"/>
        </a:p>
      </dgm:t>
    </dgm:pt>
    <dgm:pt modelId="{DB289356-5494-3C40-A294-9331AFBC8660}" type="pres">
      <dgm:prSet presAssocID="{5D2B18FA-748C-41B4-8611-E4273FD2D19B}" presName="vert0" presStyleCnt="0">
        <dgm:presLayoutVars>
          <dgm:dir/>
          <dgm:animOne val="branch"/>
          <dgm:animLvl val="lvl"/>
        </dgm:presLayoutVars>
      </dgm:prSet>
      <dgm:spPr/>
    </dgm:pt>
    <dgm:pt modelId="{4C303497-54FB-654E-A11C-9AF6B59207EE}" type="pres">
      <dgm:prSet presAssocID="{8AA7C243-BCCB-49C1-B23B-61F2A681AE56}" presName="thickLine" presStyleLbl="alignNode1" presStyleIdx="0" presStyleCnt="6"/>
      <dgm:spPr/>
    </dgm:pt>
    <dgm:pt modelId="{7F92790D-07CE-B644-AB39-D3FEE1675A08}" type="pres">
      <dgm:prSet presAssocID="{8AA7C243-BCCB-49C1-B23B-61F2A681AE56}" presName="horz1" presStyleCnt="0"/>
      <dgm:spPr/>
    </dgm:pt>
    <dgm:pt modelId="{93B91229-20BD-B844-A35D-748883AA60D0}" type="pres">
      <dgm:prSet presAssocID="{8AA7C243-BCCB-49C1-B23B-61F2A681AE56}" presName="tx1" presStyleLbl="revTx" presStyleIdx="0" presStyleCnt="6"/>
      <dgm:spPr/>
    </dgm:pt>
    <dgm:pt modelId="{65B7EB98-96DF-0243-8AF9-32B8B31785F3}" type="pres">
      <dgm:prSet presAssocID="{8AA7C243-BCCB-49C1-B23B-61F2A681AE56}" presName="vert1" presStyleCnt="0"/>
      <dgm:spPr/>
    </dgm:pt>
    <dgm:pt modelId="{70FF6AED-E6C1-3F46-AE0A-C79A3BE4C957}" type="pres">
      <dgm:prSet presAssocID="{828B8841-36D8-4050-B0C7-FFDDAB2E77C2}" presName="thickLine" presStyleLbl="alignNode1" presStyleIdx="1" presStyleCnt="6"/>
      <dgm:spPr/>
    </dgm:pt>
    <dgm:pt modelId="{70D9D57E-19F7-4E4E-8332-7DD94C39C805}" type="pres">
      <dgm:prSet presAssocID="{828B8841-36D8-4050-B0C7-FFDDAB2E77C2}" presName="horz1" presStyleCnt="0"/>
      <dgm:spPr/>
    </dgm:pt>
    <dgm:pt modelId="{F151ACD2-B704-654F-8000-A57BF3B6DF9F}" type="pres">
      <dgm:prSet presAssocID="{828B8841-36D8-4050-B0C7-FFDDAB2E77C2}" presName="tx1" presStyleLbl="revTx" presStyleIdx="1" presStyleCnt="6"/>
      <dgm:spPr/>
    </dgm:pt>
    <dgm:pt modelId="{E18F6DA3-B59D-5A4D-AA61-79A293FD0F88}" type="pres">
      <dgm:prSet presAssocID="{828B8841-36D8-4050-B0C7-FFDDAB2E77C2}" presName="vert1" presStyleCnt="0"/>
      <dgm:spPr/>
    </dgm:pt>
    <dgm:pt modelId="{08A1DE1C-D654-4148-A429-A671628B84EB}" type="pres">
      <dgm:prSet presAssocID="{CF2EBA6A-A896-49FF-AF40-4E813289F723}" presName="thickLine" presStyleLbl="alignNode1" presStyleIdx="2" presStyleCnt="6"/>
      <dgm:spPr/>
    </dgm:pt>
    <dgm:pt modelId="{08FAFCBA-2EA9-854C-811B-F9571CF847EF}" type="pres">
      <dgm:prSet presAssocID="{CF2EBA6A-A896-49FF-AF40-4E813289F723}" presName="horz1" presStyleCnt="0"/>
      <dgm:spPr/>
    </dgm:pt>
    <dgm:pt modelId="{07BB5E4E-B94B-604F-A017-C11DAA3BC582}" type="pres">
      <dgm:prSet presAssocID="{CF2EBA6A-A896-49FF-AF40-4E813289F723}" presName="tx1" presStyleLbl="revTx" presStyleIdx="2" presStyleCnt="6"/>
      <dgm:spPr/>
    </dgm:pt>
    <dgm:pt modelId="{B9B4CA0C-7C33-0548-8D69-F7706DEE7DE3}" type="pres">
      <dgm:prSet presAssocID="{CF2EBA6A-A896-49FF-AF40-4E813289F723}" presName="vert1" presStyleCnt="0"/>
      <dgm:spPr/>
    </dgm:pt>
    <dgm:pt modelId="{11D39312-1A1D-7345-AC57-7CB69058AFE1}" type="pres">
      <dgm:prSet presAssocID="{A65ECE0D-D109-43F2-971D-BC8FEE96674D}" presName="thickLine" presStyleLbl="alignNode1" presStyleIdx="3" presStyleCnt="6"/>
      <dgm:spPr/>
    </dgm:pt>
    <dgm:pt modelId="{7554D121-1525-2040-A412-0938058E260C}" type="pres">
      <dgm:prSet presAssocID="{A65ECE0D-D109-43F2-971D-BC8FEE96674D}" presName="horz1" presStyleCnt="0"/>
      <dgm:spPr/>
    </dgm:pt>
    <dgm:pt modelId="{C827F65D-B87D-7F44-AF61-9569CE3B0390}" type="pres">
      <dgm:prSet presAssocID="{A65ECE0D-D109-43F2-971D-BC8FEE96674D}" presName="tx1" presStyleLbl="revTx" presStyleIdx="3" presStyleCnt="6"/>
      <dgm:spPr/>
    </dgm:pt>
    <dgm:pt modelId="{817A6F09-9056-9745-A784-8A30B128DAE8}" type="pres">
      <dgm:prSet presAssocID="{A65ECE0D-D109-43F2-971D-BC8FEE96674D}" presName="vert1" presStyleCnt="0"/>
      <dgm:spPr/>
    </dgm:pt>
    <dgm:pt modelId="{97EC6A5E-7108-2848-BD5C-4CEA4F988281}" type="pres">
      <dgm:prSet presAssocID="{0A38C8BA-6888-41C0-9418-A8CB5D0EF6DE}" presName="thickLine" presStyleLbl="alignNode1" presStyleIdx="4" presStyleCnt="6"/>
      <dgm:spPr/>
    </dgm:pt>
    <dgm:pt modelId="{F4DCBC02-93AA-0246-9566-409B2814DA67}" type="pres">
      <dgm:prSet presAssocID="{0A38C8BA-6888-41C0-9418-A8CB5D0EF6DE}" presName="horz1" presStyleCnt="0"/>
      <dgm:spPr/>
    </dgm:pt>
    <dgm:pt modelId="{19992AC4-D4C0-234B-A45D-5735EB76058E}" type="pres">
      <dgm:prSet presAssocID="{0A38C8BA-6888-41C0-9418-A8CB5D0EF6DE}" presName="tx1" presStyleLbl="revTx" presStyleIdx="4" presStyleCnt="6"/>
      <dgm:spPr/>
    </dgm:pt>
    <dgm:pt modelId="{E21F9611-4FBB-DC4F-9FE3-4E5F66F8754A}" type="pres">
      <dgm:prSet presAssocID="{0A38C8BA-6888-41C0-9418-A8CB5D0EF6DE}" presName="vert1" presStyleCnt="0"/>
      <dgm:spPr/>
    </dgm:pt>
    <dgm:pt modelId="{C83F23D5-B8A8-1845-8EC6-49BEC18D4246}" type="pres">
      <dgm:prSet presAssocID="{BBFC2ED3-7EEE-4762-B94E-C38EC2D56586}" presName="thickLine" presStyleLbl="alignNode1" presStyleIdx="5" presStyleCnt="6"/>
      <dgm:spPr/>
    </dgm:pt>
    <dgm:pt modelId="{FC001B65-2531-0146-9DBA-F5BDC4DF5EA7}" type="pres">
      <dgm:prSet presAssocID="{BBFC2ED3-7EEE-4762-B94E-C38EC2D56586}" presName="horz1" presStyleCnt="0"/>
      <dgm:spPr/>
    </dgm:pt>
    <dgm:pt modelId="{BCC2EA79-57A8-B346-9614-CC0B0B1056DC}" type="pres">
      <dgm:prSet presAssocID="{BBFC2ED3-7EEE-4762-B94E-C38EC2D56586}" presName="tx1" presStyleLbl="revTx" presStyleIdx="5" presStyleCnt="6"/>
      <dgm:spPr/>
    </dgm:pt>
    <dgm:pt modelId="{88B02B39-4E85-CE4F-85F9-21AEB3308758}" type="pres">
      <dgm:prSet presAssocID="{BBFC2ED3-7EEE-4762-B94E-C38EC2D56586}" presName="vert1" presStyleCnt="0"/>
      <dgm:spPr/>
    </dgm:pt>
  </dgm:ptLst>
  <dgm:cxnLst>
    <dgm:cxn modelId="{43001902-28CC-6144-9D09-17161C1B3D9C}" type="presOf" srcId="{A65ECE0D-D109-43F2-971D-BC8FEE96674D}" destId="{C827F65D-B87D-7F44-AF61-9569CE3B0390}" srcOrd="0" destOrd="0" presId="urn:microsoft.com/office/officeart/2008/layout/LinedList"/>
    <dgm:cxn modelId="{5C892C0D-CBE1-4C88-B2C8-EEFEC291F049}" srcId="{5D2B18FA-748C-41B4-8611-E4273FD2D19B}" destId="{8AA7C243-BCCB-49C1-B23B-61F2A681AE56}" srcOrd="0" destOrd="0" parTransId="{EE278DB0-98F0-4481-B454-61BD75A7CC50}" sibTransId="{9BFD0A49-8376-4176-9E8D-6E591EED78EB}"/>
    <dgm:cxn modelId="{BEB64C14-5356-48AB-8BA8-5661307408FD}" srcId="{5D2B18FA-748C-41B4-8611-E4273FD2D19B}" destId="{BBFC2ED3-7EEE-4762-B94E-C38EC2D56586}" srcOrd="5" destOrd="0" parTransId="{3E605324-711F-4D6D-90E3-F08F6810C211}" sibTransId="{8C08676D-7963-4BBD-A620-9D18CF202E0C}"/>
    <dgm:cxn modelId="{D346DE18-4862-F34F-A5FF-4020CF74CB7A}" type="presOf" srcId="{CF2EBA6A-A896-49FF-AF40-4E813289F723}" destId="{07BB5E4E-B94B-604F-A017-C11DAA3BC582}" srcOrd="0" destOrd="0" presId="urn:microsoft.com/office/officeart/2008/layout/LinedList"/>
    <dgm:cxn modelId="{DA71DB37-1342-47B4-90C8-56D4735EB88C}" srcId="{5D2B18FA-748C-41B4-8611-E4273FD2D19B}" destId="{A65ECE0D-D109-43F2-971D-BC8FEE96674D}" srcOrd="3" destOrd="0" parTransId="{CA474834-3871-4E67-9662-6AC8A41435A7}" sibTransId="{88A9DBF3-A94B-4A18-B882-732AE3431458}"/>
    <dgm:cxn modelId="{F6665A64-DDE6-F443-B471-9B0C98D11051}" type="presOf" srcId="{0A38C8BA-6888-41C0-9418-A8CB5D0EF6DE}" destId="{19992AC4-D4C0-234B-A45D-5735EB76058E}" srcOrd="0" destOrd="0" presId="urn:microsoft.com/office/officeart/2008/layout/LinedList"/>
    <dgm:cxn modelId="{BCB1CE82-1366-1A49-B440-7140CC3B3A73}" type="presOf" srcId="{828B8841-36D8-4050-B0C7-FFDDAB2E77C2}" destId="{F151ACD2-B704-654F-8000-A57BF3B6DF9F}" srcOrd="0" destOrd="0" presId="urn:microsoft.com/office/officeart/2008/layout/LinedList"/>
    <dgm:cxn modelId="{B867749F-C345-469C-9683-BC1FE39BD39A}" srcId="{5D2B18FA-748C-41B4-8611-E4273FD2D19B}" destId="{828B8841-36D8-4050-B0C7-FFDDAB2E77C2}" srcOrd="1" destOrd="0" parTransId="{CCEC0DD1-E566-4EAB-BC8F-3D10AD0E87C2}" sibTransId="{45F7E8D1-E92A-42F0-A945-6D8262182990}"/>
    <dgm:cxn modelId="{C3CE94BA-69F4-B741-B443-C34591DCA8BD}" type="presOf" srcId="{BBFC2ED3-7EEE-4762-B94E-C38EC2D56586}" destId="{BCC2EA79-57A8-B346-9614-CC0B0B1056DC}" srcOrd="0" destOrd="0" presId="urn:microsoft.com/office/officeart/2008/layout/LinedList"/>
    <dgm:cxn modelId="{57B474BE-0243-4FCA-A5E0-87CA6918B611}" srcId="{5D2B18FA-748C-41B4-8611-E4273FD2D19B}" destId="{0A38C8BA-6888-41C0-9418-A8CB5D0EF6DE}" srcOrd="4" destOrd="0" parTransId="{47FDB8BB-D075-4377-BB96-05F1F2E80E96}" sibTransId="{D42C5911-0F3B-4A87-8DFE-CA20A0A32BA6}"/>
    <dgm:cxn modelId="{5FB37EC8-306A-4F4A-A4C6-3BBCEAAF8615}" srcId="{5D2B18FA-748C-41B4-8611-E4273FD2D19B}" destId="{CF2EBA6A-A896-49FF-AF40-4E813289F723}" srcOrd="2" destOrd="0" parTransId="{DD3734CA-AFB8-4C76-8673-8A8D0BD005B8}" sibTransId="{96675D3A-7CBE-4FBA-81DD-78DAE64FA69C}"/>
    <dgm:cxn modelId="{FA77A0F3-565B-0A49-8E73-81A2D587BC7B}" type="presOf" srcId="{8AA7C243-BCCB-49C1-B23B-61F2A681AE56}" destId="{93B91229-20BD-B844-A35D-748883AA60D0}" srcOrd="0" destOrd="0" presId="urn:microsoft.com/office/officeart/2008/layout/LinedList"/>
    <dgm:cxn modelId="{FB9F3FFA-DCBE-984F-81A3-47EAE015E814}" type="presOf" srcId="{5D2B18FA-748C-41B4-8611-E4273FD2D19B}" destId="{DB289356-5494-3C40-A294-9331AFBC8660}" srcOrd="0" destOrd="0" presId="urn:microsoft.com/office/officeart/2008/layout/LinedList"/>
    <dgm:cxn modelId="{F852E992-522F-6E4A-943B-9C88207725BB}" type="presParOf" srcId="{DB289356-5494-3C40-A294-9331AFBC8660}" destId="{4C303497-54FB-654E-A11C-9AF6B59207EE}" srcOrd="0" destOrd="0" presId="urn:microsoft.com/office/officeart/2008/layout/LinedList"/>
    <dgm:cxn modelId="{50F9BEA9-7CE4-4646-ABB3-3C835D762D38}" type="presParOf" srcId="{DB289356-5494-3C40-A294-9331AFBC8660}" destId="{7F92790D-07CE-B644-AB39-D3FEE1675A08}" srcOrd="1" destOrd="0" presId="urn:microsoft.com/office/officeart/2008/layout/LinedList"/>
    <dgm:cxn modelId="{FF6188EE-7546-7C4B-AC7D-C9297E0A1B29}" type="presParOf" srcId="{7F92790D-07CE-B644-AB39-D3FEE1675A08}" destId="{93B91229-20BD-B844-A35D-748883AA60D0}" srcOrd="0" destOrd="0" presId="urn:microsoft.com/office/officeart/2008/layout/LinedList"/>
    <dgm:cxn modelId="{69053FB8-ACAF-8D40-8B8D-4B4F2A6913B1}" type="presParOf" srcId="{7F92790D-07CE-B644-AB39-D3FEE1675A08}" destId="{65B7EB98-96DF-0243-8AF9-32B8B31785F3}" srcOrd="1" destOrd="0" presId="urn:microsoft.com/office/officeart/2008/layout/LinedList"/>
    <dgm:cxn modelId="{964267F7-C599-9A44-9A10-8844FF1D5AA5}" type="presParOf" srcId="{DB289356-5494-3C40-A294-9331AFBC8660}" destId="{70FF6AED-E6C1-3F46-AE0A-C79A3BE4C957}" srcOrd="2" destOrd="0" presId="urn:microsoft.com/office/officeart/2008/layout/LinedList"/>
    <dgm:cxn modelId="{E1AFF92B-71A8-414B-828B-90A6CEE4E29C}" type="presParOf" srcId="{DB289356-5494-3C40-A294-9331AFBC8660}" destId="{70D9D57E-19F7-4E4E-8332-7DD94C39C805}" srcOrd="3" destOrd="0" presId="urn:microsoft.com/office/officeart/2008/layout/LinedList"/>
    <dgm:cxn modelId="{A4F402B5-2400-474C-A9C6-D8B699C3AFE9}" type="presParOf" srcId="{70D9D57E-19F7-4E4E-8332-7DD94C39C805}" destId="{F151ACD2-B704-654F-8000-A57BF3B6DF9F}" srcOrd="0" destOrd="0" presId="urn:microsoft.com/office/officeart/2008/layout/LinedList"/>
    <dgm:cxn modelId="{FD3C3E63-6B60-5445-BB26-6640EFC7E3D9}" type="presParOf" srcId="{70D9D57E-19F7-4E4E-8332-7DD94C39C805}" destId="{E18F6DA3-B59D-5A4D-AA61-79A293FD0F88}" srcOrd="1" destOrd="0" presId="urn:microsoft.com/office/officeart/2008/layout/LinedList"/>
    <dgm:cxn modelId="{0A97F813-3171-B64E-B6E6-3260182C7ED3}" type="presParOf" srcId="{DB289356-5494-3C40-A294-9331AFBC8660}" destId="{08A1DE1C-D654-4148-A429-A671628B84EB}" srcOrd="4" destOrd="0" presId="urn:microsoft.com/office/officeart/2008/layout/LinedList"/>
    <dgm:cxn modelId="{1FEEAB03-3808-C942-900C-9CC72BE96C77}" type="presParOf" srcId="{DB289356-5494-3C40-A294-9331AFBC8660}" destId="{08FAFCBA-2EA9-854C-811B-F9571CF847EF}" srcOrd="5" destOrd="0" presId="urn:microsoft.com/office/officeart/2008/layout/LinedList"/>
    <dgm:cxn modelId="{0D768A99-08D6-3B41-BB51-662D8853B0E4}" type="presParOf" srcId="{08FAFCBA-2EA9-854C-811B-F9571CF847EF}" destId="{07BB5E4E-B94B-604F-A017-C11DAA3BC582}" srcOrd="0" destOrd="0" presId="urn:microsoft.com/office/officeart/2008/layout/LinedList"/>
    <dgm:cxn modelId="{E3ED5F5B-5A46-BE42-9F8F-09E2F6A2F569}" type="presParOf" srcId="{08FAFCBA-2EA9-854C-811B-F9571CF847EF}" destId="{B9B4CA0C-7C33-0548-8D69-F7706DEE7DE3}" srcOrd="1" destOrd="0" presId="urn:microsoft.com/office/officeart/2008/layout/LinedList"/>
    <dgm:cxn modelId="{E2F1733A-6914-1142-BFB2-D88B0EC15DAC}" type="presParOf" srcId="{DB289356-5494-3C40-A294-9331AFBC8660}" destId="{11D39312-1A1D-7345-AC57-7CB69058AFE1}" srcOrd="6" destOrd="0" presId="urn:microsoft.com/office/officeart/2008/layout/LinedList"/>
    <dgm:cxn modelId="{A3610140-E9D4-F643-B4A3-F3A90817CFA4}" type="presParOf" srcId="{DB289356-5494-3C40-A294-9331AFBC8660}" destId="{7554D121-1525-2040-A412-0938058E260C}" srcOrd="7" destOrd="0" presId="urn:microsoft.com/office/officeart/2008/layout/LinedList"/>
    <dgm:cxn modelId="{B95A7CC6-3E20-FB44-BC39-8497FD0953AB}" type="presParOf" srcId="{7554D121-1525-2040-A412-0938058E260C}" destId="{C827F65D-B87D-7F44-AF61-9569CE3B0390}" srcOrd="0" destOrd="0" presId="urn:microsoft.com/office/officeart/2008/layout/LinedList"/>
    <dgm:cxn modelId="{24E1DADF-0077-464B-9ABF-B783DD53D567}" type="presParOf" srcId="{7554D121-1525-2040-A412-0938058E260C}" destId="{817A6F09-9056-9745-A784-8A30B128DAE8}" srcOrd="1" destOrd="0" presId="urn:microsoft.com/office/officeart/2008/layout/LinedList"/>
    <dgm:cxn modelId="{54D9323E-1EF4-CD41-9288-DF22E5C72C05}" type="presParOf" srcId="{DB289356-5494-3C40-A294-9331AFBC8660}" destId="{97EC6A5E-7108-2848-BD5C-4CEA4F988281}" srcOrd="8" destOrd="0" presId="urn:microsoft.com/office/officeart/2008/layout/LinedList"/>
    <dgm:cxn modelId="{55156B09-79DD-344B-B961-73BB6254BD22}" type="presParOf" srcId="{DB289356-5494-3C40-A294-9331AFBC8660}" destId="{F4DCBC02-93AA-0246-9566-409B2814DA67}" srcOrd="9" destOrd="0" presId="urn:microsoft.com/office/officeart/2008/layout/LinedList"/>
    <dgm:cxn modelId="{A7DBC79A-CF2D-DF43-980B-E910FC924E04}" type="presParOf" srcId="{F4DCBC02-93AA-0246-9566-409B2814DA67}" destId="{19992AC4-D4C0-234B-A45D-5735EB76058E}" srcOrd="0" destOrd="0" presId="urn:microsoft.com/office/officeart/2008/layout/LinedList"/>
    <dgm:cxn modelId="{12A4A7D6-3F4D-D948-82F8-4BC323DB4499}" type="presParOf" srcId="{F4DCBC02-93AA-0246-9566-409B2814DA67}" destId="{E21F9611-4FBB-DC4F-9FE3-4E5F66F8754A}" srcOrd="1" destOrd="0" presId="urn:microsoft.com/office/officeart/2008/layout/LinedList"/>
    <dgm:cxn modelId="{91FA8FF8-651E-2542-8075-383B5F69CDEF}" type="presParOf" srcId="{DB289356-5494-3C40-A294-9331AFBC8660}" destId="{C83F23D5-B8A8-1845-8EC6-49BEC18D4246}" srcOrd="10" destOrd="0" presId="urn:microsoft.com/office/officeart/2008/layout/LinedList"/>
    <dgm:cxn modelId="{B4B8FE04-C5AF-4140-8369-119E71C3C3A0}" type="presParOf" srcId="{DB289356-5494-3C40-A294-9331AFBC8660}" destId="{FC001B65-2531-0146-9DBA-F5BDC4DF5EA7}" srcOrd="11" destOrd="0" presId="urn:microsoft.com/office/officeart/2008/layout/LinedList"/>
    <dgm:cxn modelId="{AB79E8BB-433B-0243-B480-9994162C929B}" type="presParOf" srcId="{FC001B65-2531-0146-9DBA-F5BDC4DF5EA7}" destId="{BCC2EA79-57A8-B346-9614-CC0B0B1056DC}" srcOrd="0" destOrd="0" presId="urn:microsoft.com/office/officeart/2008/layout/LinedList"/>
    <dgm:cxn modelId="{7F1C86C9-CA37-024E-8901-D190AF9401C1}" type="presParOf" srcId="{FC001B65-2531-0146-9DBA-F5BDC4DF5EA7}" destId="{88B02B39-4E85-CE4F-85F9-21AEB330875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A78E56B-18AD-4095-8B5C-5A79E1AC289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89CBCB2-3078-4BF7-932F-432C73DF6F6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Reranking</a:t>
          </a:r>
          <a:r>
            <a:rPr lang="en-US"/>
            <a:t>: Reorder retrieved documents with scoring model</a:t>
          </a:r>
        </a:p>
      </dgm:t>
    </dgm:pt>
    <dgm:pt modelId="{7DB765CA-2A1C-47E0-A682-61CCCE373A1B}" type="parTrans" cxnId="{BC3D8A91-F39E-4329-831F-539E21A8153A}">
      <dgm:prSet/>
      <dgm:spPr/>
      <dgm:t>
        <a:bodyPr/>
        <a:lstStyle/>
        <a:p>
          <a:endParaRPr lang="en-US"/>
        </a:p>
      </dgm:t>
    </dgm:pt>
    <dgm:pt modelId="{FC8A6085-65DD-418B-8D21-765C298C7FA8}" type="sibTrans" cxnId="{BC3D8A91-F39E-4329-831F-539E21A8153A}">
      <dgm:prSet/>
      <dgm:spPr/>
      <dgm:t>
        <a:bodyPr/>
        <a:lstStyle/>
        <a:p>
          <a:endParaRPr lang="en-US"/>
        </a:p>
      </dgm:t>
    </dgm:pt>
    <dgm:pt modelId="{314B2745-C3E4-4CB9-A2F3-43DB37CA69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HyDE (Hypothetical Document Embeddings)</a:t>
          </a:r>
          <a:r>
            <a:rPr lang="en-US"/>
            <a:t>:</a:t>
          </a:r>
        </a:p>
      </dgm:t>
    </dgm:pt>
    <dgm:pt modelId="{508EC6BA-F9A6-46C4-AFCD-84147948D2D8}" type="parTrans" cxnId="{B9A6787D-6768-4B81-B08C-08A0D48F23FA}">
      <dgm:prSet/>
      <dgm:spPr/>
      <dgm:t>
        <a:bodyPr/>
        <a:lstStyle/>
        <a:p>
          <a:endParaRPr lang="en-US"/>
        </a:p>
      </dgm:t>
    </dgm:pt>
    <dgm:pt modelId="{F310368F-31A5-4A1B-ACC5-6A64B91DF5A9}" type="sibTrans" cxnId="{B9A6787D-6768-4B81-B08C-08A0D48F23FA}">
      <dgm:prSet/>
      <dgm:spPr/>
      <dgm:t>
        <a:bodyPr/>
        <a:lstStyle/>
        <a:p>
          <a:endParaRPr lang="en-US"/>
        </a:p>
      </dgm:t>
    </dgm:pt>
    <dgm:pt modelId="{143724DE-4D53-4BF9-8713-C4869F11CCA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Generate hypothetical answer</a:t>
          </a:r>
        </a:p>
      </dgm:t>
    </dgm:pt>
    <dgm:pt modelId="{5A934FFB-405D-4E24-A900-CC2BF5BC8276}" type="parTrans" cxnId="{B549A87E-CAD2-492E-ADE1-92D2C3020DE1}">
      <dgm:prSet/>
      <dgm:spPr/>
      <dgm:t>
        <a:bodyPr/>
        <a:lstStyle/>
        <a:p>
          <a:endParaRPr lang="en-US"/>
        </a:p>
      </dgm:t>
    </dgm:pt>
    <dgm:pt modelId="{89F9FC42-9D32-404E-87D0-EF73FCD03751}" type="sibTrans" cxnId="{B549A87E-CAD2-492E-ADE1-92D2C3020DE1}">
      <dgm:prSet/>
      <dgm:spPr/>
      <dgm:t>
        <a:bodyPr/>
        <a:lstStyle/>
        <a:p>
          <a:endParaRPr lang="en-US"/>
        </a:p>
      </dgm:t>
    </dgm:pt>
    <dgm:pt modelId="{FD34BD76-5FFF-46A5-A779-2556F9FB2A7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 it as a query to retrieve better documents</a:t>
          </a:r>
        </a:p>
      </dgm:t>
    </dgm:pt>
    <dgm:pt modelId="{8EF9D5E1-F51A-4872-A8D4-647E78440DAF}" type="parTrans" cxnId="{3B0C77E9-9004-4888-9651-A5AEBEC1F8BD}">
      <dgm:prSet/>
      <dgm:spPr/>
      <dgm:t>
        <a:bodyPr/>
        <a:lstStyle/>
        <a:p>
          <a:endParaRPr lang="en-US"/>
        </a:p>
      </dgm:t>
    </dgm:pt>
    <dgm:pt modelId="{201AD472-6E3E-4399-9948-1494D5132DC6}" type="sibTrans" cxnId="{3B0C77E9-9004-4888-9651-A5AEBEC1F8BD}">
      <dgm:prSet/>
      <dgm:spPr/>
      <dgm:t>
        <a:bodyPr/>
        <a:lstStyle/>
        <a:p>
          <a:endParaRPr lang="en-US"/>
        </a:p>
      </dgm:t>
    </dgm:pt>
    <dgm:pt modelId="{15968E67-D890-4D66-984F-6C3C9CD003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Example</a:t>
          </a:r>
          <a:r>
            <a:rPr lang="en-US"/>
            <a:t>: Query: "How does quantum computing work?" → LLM generates an explanation → used as search query</a:t>
          </a:r>
        </a:p>
      </dgm:t>
    </dgm:pt>
    <dgm:pt modelId="{6F731EBB-DC32-482E-8386-F128DE7C248E}" type="parTrans" cxnId="{06310B58-839E-428F-BD2F-A0C90379DFF8}">
      <dgm:prSet/>
      <dgm:spPr/>
      <dgm:t>
        <a:bodyPr/>
        <a:lstStyle/>
        <a:p>
          <a:endParaRPr lang="en-US"/>
        </a:p>
      </dgm:t>
    </dgm:pt>
    <dgm:pt modelId="{2CF7C834-0508-4FC2-B057-611406DC6593}" type="sibTrans" cxnId="{06310B58-839E-428F-BD2F-A0C90379DFF8}">
      <dgm:prSet/>
      <dgm:spPr/>
      <dgm:t>
        <a:bodyPr/>
        <a:lstStyle/>
        <a:p>
          <a:endParaRPr lang="en-US"/>
        </a:p>
      </dgm:t>
    </dgm:pt>
    <dgm:pt modelId="{4BEC6262-7065-435E-A388-5D23B094C602}" type="pres">
      <dgm:prSet presAssocID="{2A78E56B-18AD-4095-8B5C-5A79E1AC2890}" presName="root" presStyleCnt="0">
        <dgm:presLayoutVars>
          <dgm:dir/>
          <dgm:resizeHandles val="exact"/>
        </dgm:presLayoutVars>
      </dgm:prSet>
      <dgm:spPr/>
    </dgm:pt>
    <dgm:pt modelId="{303B72BB-D146-4FF9-9849-4154F5558D3D}" type="pres">
      <dgm:prSet presAssocID="{889CBCB2-3078-4BF7-932F-432C73DF6F65}" presName="compNode" presStyleCnt="0"/>
      <dgm:spPr/>
    </dgm:pt>
    <dgm:pt modelId="{08F863D7-B511-4E86-91D5-985A6E3353BE}" type="pres">
      <dgm:prSet presAssocID="{889CBCB2-3078-4BF7-932F-432C73DF6F65}" presName="bgRect" presStyleLbl="bgShp" presStyleIdx="0" presStyleCnt="2"/>
      <dgm:spPr/>
    </dgm:pt>
    <dgm:pt modelId="{F1A876D5-063E-4316-B931-CEA8C1923F79}" type="pres">
      <dgm:prSet presAssocID="{889CBCB2-3078-4BF7-932F-432C73DF6F6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0E9EA52-75ED-4588-847F-E87DBDFE0ECA}" type="pres">
      <dgm:prSet presAssocID="{889CBCB2-3078-4BF7-932F-432C73DF6F65}" presName="spaceRect" presStyleCnt="0"/>
      <dgm:spPr/>
    </dgm:pt>
    <dgm:pt modelId="{73F7F11B-3AD5-4F9F-A381-ED53C21E11ED}" type="pres">
      <dgm:prSet presAssocID="{889CBCB2-3078-4BF7-932F-432C73DF6F65}" presName="parTx" presStyleLbl="revTx" presStyleIdx="0" presStyleCnt="3">
        <dgm:presLayoutVars>
          <dgm:chMax val="0"/>
          <dgm:chPref val="0"/>
        </dgm:presLayoutVars>
      </dgm:prSet>
      <dgm:spPr/>
    </dgm:pt>
    <dgm:pt modelId="{5BADE9D7-FC39-4949-95AD-1921A50C30D0}" type="pres">
      <dgm:prSet presAssocID="{FC8A6085-65DD-418B-8D21-765C298C7FA8}" presName="sibTrans" presStyleCnt="0"/>
      <dgm:spPr/>
    </dgm:pt>
    <dgm:pt modelId="{406FC845-BD77-4785-8608-E4A0DBC1EF0D}" type="pres">
      <dgm:prSet presAssocID="{314B2745-C3E4-4CB9-A2F3-43DB37CA6949}" presName="compNode" presStyleCnt="0"/>
      <dgm:spPr/>
    </dgm:pt>
    <dgm:pt modelId="{E39DEC86-4D51-47B0-938A-8BC0FD66B768}" type="pres">
      <dgm:prSet presAssocID="{314B2745-C3E4-4CB9-A2F3-43DB37CA6949}" presName="bgRect" presStyleLbl="bgShp" presStyleIdx="1" presStyleCnt="2"/>
      <dgm:spPr/>
    </dgm:pt>
    <dgm:pt modelId="{870F607F-5342-417E-8217-3A55BFD1BEEB}" type="pres">
      <dgm:prSet presAssocID="{314B2745-C3E4-4CB9-A2F3-43DB37CA694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4872B45B-6D58-4AE8-A6B5-FBC40BF75B37}" type="pres">
      <dgm:prSet presAssocID="{314B2745-C3E4-4CB9-A2F3-43DB37CA6949}" presName="spaceRect" presStyleCnt="0"/>
      <dgm:spPr/>
    </dgm:pt>
    <dgm:pt modelId="{3754D3AA-C15E-4848-B166-9EAE83190F91}" type="pres">
      <dgm:prSet presAssocID="{314B2745-C3E4-4CB9-A2F3-43DB37CA6949}" presName="parTx" presStyleLbl="revTx" presStyleIdx="1" presStyleCnt="3">
        <dgm:presLayoutVars>
          <dgm:chMax val="0"/>
          <dgm:chPref val="0"/>
        </dgm:presLayoutVars>
      </dgm:prSet>
      <dgm:spPr/>
    </dgm:pt>
    <dgm:pt modelId="{0CD71BE4-FDEE-4A9D-A74A-25353D1C470C}" type="pres">
      <dgm:prSet presAssocID="{314B2745-C3E4-4CB9-A2F3-43DB37CA6949}" presName="desTx" presStyleLbl="revTx" presStyleIdx="2" presStyleCnt="3">
        <dgm:presLayoutVars/>
      </dgm:prSet>
      <dgm:spPr/>
    </dgm:pt>
  </dgm:ptLst>
  <dgm:cxnLst>
    <dgm:cxn modelId="{C1E8E417-ABE8-4278-BCE5-6CD595CD8B57}" type="presOf" srcId="{15968E67-D890-4D66-984F-6C3C9CD00343}" destId="{0CD71BE4-FDEE-4A9D-A74A-25353D1C470C}" srcOrd="0" destOrd="2" presId="urn:microsoft.com/office/officeart/2018/2/layout/IconVerticalSolidList"/>
    <dgm:cxn modelId="{06310B58-839E-428F-BD2F-A0C90379DFF8}" srcId="{314B2745-C3E4-4CB9-A2F3-43DB37CA6949}" destId="{15968E67-D890-4D66-984F-6C3C9CD00343}" srcOrd="2" destOrd="0" parTransId="{6F731EBB-DC32-482E-8386-F128DE7C248E}" sibTransId="{2CF7C834-0508-4FC2-B057-611406DC6593}"/>
    <dgm:cxn modelId="{B9A6787D-6768-4B81-B08C-08A0D48F23FA}" srcId="{2A78E56B-18AD-4095-8B5C-5A79E1AC2890}" destId="{314B2745-C3E4-4CB9-A2F3-43DB37CA6949}" srcOrd="1" destOrd="0" parTransId="{508EC6BA-F9A6-46C4-AFCD-84147948D2D8}" sibTransId="{F310368F-31A5-4A1B-ACC5-6A64B91DF5A9}"/>
    <dgm:cxn modelId="{B549A87E-CAD2-492E-ADE1-92D2C3020DE1}" srcId="{314B2745-C3E4-4CB9-A2F3-43DB37CA6949}" destId="{143724DE-4D53-4BF9-8713-C4869F11CCAF}" srcOrd="0" destOrd="0" parTransId="{5A934FFB-405D-4E24-A900-CC2BF5BC8276}" sibTransId="{89F9FC42-9D32-404E-87D0-EF73FCD03751}"/>
    <dgm:cxn modelId="{5A352491-89E5-4A62-AA17-F179FB3BFA61}" type="presOf" srcId="{314B2745-C3E4-4CB9-A2F3-43DB37CA6949}" destId="{3754D3AA-C15E-4848-B166-9EAE83190F91}" srcOrd="0" destOrd="0" presId="urn:microsoft.com/office/officeart/2018/2/layout/IconVerticalSolidList"/>
    <dgm:cxn modelId="{BC3D8A91-F39E-4329-831F-539E21A8153A}" srcId="{2A78E56B-18AD-4095-8B5C-5A79E1AC2890}" destId="{889CBCB2-3078-4BF7-932F-432C73DF6F65}" srcOrd="0" destOrd="0" parTransId="{7DB765CA-2A1C-47E0-A682-61CCCE373A1B}" sibTransId="{FC8A6085-65DD-418B-8D21-765C298C7FA8}"/>
    <dgm:cxn modelId="{8C50C6AB-A617-47DD-9FAF-03AC8CEC418C}" type="presOf" srcId="{FD34BD76-5FFF-46A5-A779-2556F9FB2A7C}" destId="{0CD71BE4-FDEE-4A9D-A74A-25353D1C470C}" srcOrd="0" destOrd="1" presId="urn:microsoft.com/office/officeart/2018/2/layout/IconVerticalSolidList"/>
    <dgm:cxn modelId="{00F1BAB2-4BC6-41BE-A659-58043EA63E9C}" type="presOf" srcId="{2A78E56B-18AD-4095-8B5C-5A79E1AC2890}" destId="{4BEC6262-7065-435E-A388-5D23B094C602}" srcOrd="0" destOrd="0" presId="urn:microsoft.com/office/officeart/2018/2/layout/IconVerticalSolidList"/>
    <dgm:cxn modelId="{03CFBBD9-044E-4BB5-A0FF-7B47A28FFE35}" type="presOf" srcId="{143724DE-4D53-4BF9-8713-C4869F11CCAF}" destId="{0CD71BE4-FDEE-4A9D-A74A-25353D1C470C}" srcOrd="0" destOrd="0" presId="urn:microsoft.com/office/officeart/2018/2/layout/IconVerticalSolidList"/>
    <dgm:cxn modelId="{322F09E4-870D-405F-BB3A-811D91119E70}" type="presOf" srcId="{889CBCB2-3078-4BF7-932F-432C73DF6F65}" destId="{73F7F11B-3AD5-4F9F-A381-ED53C21E11ED}" srcOrd="0" destOrd="0" presId="urn:microsoft.com/office/officeart/2018/2/layout/IconVerticalSolidList"/>
    <dgm:cxn modelId="{3B0C77E9-9004-4888-9651-A5AEBEC1F8BD}" srcId="{314B2745-C3E4-4CB9-A2F3-43DB37CA6949}" destId="{FD34BD76-5FFF-46A5-A779-2556F9FB2A7C}" srcOrd="1" destOrd="0" parTransId="{8EF9D5E1-F51A-4872-A8D4-647E78440DAF}" sibTransId="{201AD472-6E3E-4399-9948-1494D5132DC6}"/>
    <dgm:cxn modelId="{754D3D46-623D-4B8B-87DD-90C875163E55}" type="presParOf" srcId="{4BEC6262-7065-435E-A388-5D23B094C602}" destId="{303B72BB-D146-4FF9-9849-4154F5558D3D}" srcOrd="0" destOrd="0" presId="urn:microsoft.com/office/officeart/2018/2/layout/IconVerticalSolidList"/>
    <dgm:cxn modelId="{707AD01D-1021-4039-96C3-A0E69328A27D}" type="presParOf" srcId="{303B72BB-D146-4FF9-9849-4154F5558D3D}" destId="{08F863D7-B511-4E86-91D5-985A6E3353BE}" srcOrd="0" destOrd="0" presId="urn:microsoft.com/office/officeart/2018/2/layout/IconVerticalSolidList"/>
    <dgm:cxn modelId="{57FE529A-19F9-4CCB-93D9-0101C53834F9}" type="presParOf" srcId="{303B72BB-D146-4FF9-9849-4154F5558D3D}" destId="{F1A876D5-063E-4316-B931-CEA8C1923F79}" srcOrd="1" destOrd="0" presId="urn:microsoft.com/office/officeart/2018/2/layout/IconVerticalSolidList"/>
    <dgm:cxn modelId="{501C7E8E-9CE7-4FC5-AD65-9CC47AF45645}" type="presParOf" srcId="{303B72BB-D146-4FF9-9849-4154F5558D3D}" destId="{30E9EA52-75ED-4588-847F-E87DBDFE0ECA}" srcOrd="2" destOrd="0" presId="urn:microsoft.com/office/officeart/2018/2/layout/IconVerticalSolidList"/>
    <dgm:cxn modelId="{5A8E0BF6-1905-49A8-8E3C-9B1D24C96671}" type="presParOf" srcId="{303B72BB-D146-4FF9-9849-4154F5558D3D}" destId="{73F7F11B-3AD5-4F9F-A381-ED53C21E11ED}" srcOrd="3" destOrd="0" presId="urn:microsoft.com/office/officeart/2018/2/layout/IconVerticalSolidList"/>
    <dgm:cxn modelId="{6B876083-2ED3-483F-8781-01439A463B74}" type="presParOf" srcId="{4BEC6262-7065-435E-A388-5D23B094C602}" destId="{5BADE9D7-FC39-4949-95AD-1921A50C30D0}" srcOrd="1" destOrd="0" presId="urn:microsoft.com/office/officeart/2018/2/layout/IconVerticalSolidList"/>
    <dgm:cxn modelId="{6E5B8778-1D1D-4395-ACE4-A6CBB02A2B1D}" type="presParOf" srcId="{4BEC6262-7065-435E-A388-5D23B094C602}" destId="{406FC845-BD77-4785-8608-E4A0DBC1EF0D}" srcOrd="2" destOrd="0" presId="urn:microsoft.com/office/officeart/2018/2/layout/IconVerticalSolidList"/>
    <dgm:cxn modelId="{E97C8538-F4E4-4318-BA38-B1D5D37B3BE6}" type="presParOf" srcId="{406FC845-BD77-4785-8608-E4A0DBC1EF0D}" destId="{E39DEC86-4D51-47B0-938A-8BC0FD66B768}" srcOrd="0" destOrd="0" presId="urn:microsoft.com/office/officeart/2018/2/layout/IconVerticalSolidList"/>
    <dgm:cxn modelId="{E84666C8-13C7-47D9-B0ED-0BD3ADD88A49}" type="presParOf" srcId="{406FC845-BD77-4785-8608-E4A0DBC1EF0D}" destId="{870F607F-5342-417E-8217-3A55BFD1BEEB}" srcOrd="1" destOrd="0" presId="urn:microsoft.com/office/officeart/2018/2/layout/IconVerticalSolidList"/>
    <dgm:cxn modelId="{006AA98B-AA7A-4D4E-8219-B753BBB08794}" type="presParOf" srcId="{406FC845-BD77-4785-8608-E4A0DBC1EF0D}" destId="{4872B45B-6D58-4AE8-A6B5-FBC40BF75B37}" srcOrd="2" destOrd="0" presId="urn:microsoft.com/office/officeart/2018/2/layout/IconVerticalSolidList"/>
    <dgm:cxn modelId="{B1BB3E35-C656-4C8C-9282-3729B34176B8}" type="presParOf" srcId="{406FC845-BD77-4785-8608-E4A0DBC1EF0D}" destId="{3754D3AA-C15E-4848-B166-9EAE83190F91}" srcOrd="3" destOrd="0" presId="urn:microsoft.com/office/officeart/2018/2/layout/IconVerticalSolidList"/>
    <dgm:cxn modelId="{09D1B910-36FC-4B14-96B6-C24819CBF20C}" type="presParOf" srcId="{406FC845-BD77-4785-8608-E4A0DBC1EF0D}" destId="{0CD71BE4-FDEE-4A9D-A74A-25353D1C470C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303497-54FB-654E-A11C-9AF6B59207EE}">
      <dsp:nvSpPr>
        <dsp:cNvPr id="0" name=""/>
        <dsp:cNvSpPr/>
      </dsp:nvSpPr>
      <dsp:spPr>
        <a:xfrm>
          <a:off x="0" y="2687"/>
          <a:ext cx="62636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B91229-20BD-B844-A35D-748883AA60D0}">
      <dsp:nvSpPr>
        <dsp:cNvPr id="0" name=""/>
        <dsp:cNvSpPr/>
      </dsp:nvSpPr>
      <dsp:spPr>
        <a:xfrm>
          <a:off x="0" y="2687"/>
          <a:ext cx="6263640" cy="916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4B6889"/>
              </a:solidFill>
            </a:rPr>
            <a:t>Reduces hallucination</a:t>
          </a:r>
          <a:r>
            <a:rPr lang="en-US" sz="2000" kern="1200" dirty="0">
              <a:solidFill>
                <a:srgbClr val="4B6889"/>
              </a:solidFill>
            </a:rPr>
            <a:t> by grounding in real data</a:t>
          </a:r>
        </a:p>
      </dsp:txBody>
      <dsp:txXfrm>
        <a:off x="0" y="2687"/>
        <a:ext cx="6263640" cy="916552"/>
      </dsp:txXfrm>
    </dsp:sp>
    <dsp:sp modelId="{70FF6AED-E6C1-3F46-AE0A-C79A3BE4C957}">
      <dsp:nvSpPr>
        <dsp:cNvPr id="0" name=""/>
        <dsp:cNvSpPr/>
      </dsp:nvSpPr>
      <dsp:spPr>
        <a:xfrm>
          <a:off x="0" y="919239"/>
          <a:ext cx="62636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51ACD2-B704-654F-8000-A57BF3B6DF9F}">
      <dsp:nvSpPr>
        <dsp:cNvPr id="0" name=""/>
        <dsp:cNvSpPr/>
      </dsp:nvSpPr>
      <dsp:spPr>
        <a:xfrm>
          <a:off x="0" y="919239"/>
          <a:ext cx="6263640" cy="916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4B6889"/>
              </a:solidFill>
            </a:rPr>
            <a:t>Provides references</a:t>
          </a:r>
          <a:r>
            <a:rPr lang="en-US" sz="2000" kern="1200" dirty="0">
              <a:solidFill>
                <a:srgbClr val="4B6889"/>
              </a:solidFill>
            </a:rPr>
            <a:t> for fact-checking</a:t>
          </a:r>
        </a:p>
      </dsp:txBody>
      <dsp:txXfrm>
        <a:off x="0" y="919239"/>
        <a:ext cx="6263640" cy="916552"/>
      </dsp:txXfrm>
    </dsp:sp>
    <dsp:sp modelId="{08A1DE1C-D654-4148-A429-A671628B84EB}">
      <dsp:nvSpPr>
        <dsp:cNvPr id="0" name=""/>
        <dsp:cNvSpPr/>
      </dsp:nvSpPr>
      <dsp:spPr>
        <a:xfrm>
          <a:off x="0" y="1835791"/>
          <a:ext cx="62636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BB5E4E-B94B-604F-A017-C11DAA3BC582}">
      <dsp:nvSpPr>
        <dsp:cNvPr id="0" name=""/>
        <dsp:cNvSpPr/>
      </dsp:nvSpPr>
      <dsp:spPr>
        <a:xfrm>
          <a:off x="0" y="1835791"/>
          <a:ext cx="6263640" cy="916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4B6889"/>
              </a:solidFill>
            </a:rPr>
            <a:t>Avoids fine-tuning</a:t>
          </a:r>
          <a:r>
            <a:rPr lang="en-US" sz="2000" kern="1200" dirty="0">
              <a:solidFill>
                <a:srgbClr val="4B6889"/>
              </a:solidFill>
            </a:rPr>
            <a:t> large models</a:t>
          </a:r>
        </a:p>
      </dsp:txBody>
      <dsp:txXfrm>
        <a:off x="0" y="1835791"/>
        <a:ext cx="6263640" cy="916552"/>
      </dsp:txXfrm>
    </dsp:sp>
    <dsp:sp modelId="{11D39312-1A1D-7345-AC57-7CB69058AFE1}">
      <dsp:nvSpPr>
        <dsp:cNvPr id="0" name=""/>
        <dsp:cNvSpPr/>
      </dsp:nvSpPr>
      <dsp:spPr>
        <a:xfrm>
          <a:off x="0" y="2752344"/>
          <a:ext cx="62636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27F65D-B87D-7F44-AF61-9569CE3B0390}">
      <dsp:nvSpPr>
        <dsp:cNvPr id="0" name=""/>
        <dsp:cNvSpPr/>
      </dsp:nvSpPr>
      <dsp:spPr>
        <a:xfrm>
          <a:off x="0" y="2752344"/>
          <a:ext cx="6263640" cy="916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4B6889"/>
              </a:solidFill>
            </a:rPr>
            <a:t>Supports dynamic databases</a:t>
          </a:r>
          <a:r>
            <a:rPr lang="en-US" sz="2000" kern="1200" dirty="0">
              <a:solidFill>
                <a:srgbClr val="4B6889"/>
              </a:solidFill>
            </a:rPr>
            <a:t> (no retraining)</a:t>
          </a:r>
        </a:p>
      </dsp:txBody>
      <dsp:txXfrm>
        <a:off x="0" y="2752344"/>
        <a:ext cx="6263640" cy="916552"/>
      </dsp:txXfrm>
    </dsp:sp>
    <dsp:sp modelId="{97EC6A5E-7108-2848-BD5C-4CEA4F988281}">
      <dsp:nvSpPr>
        <dsp:cNvPr id="0" name=""/>
        <dsp:cNvSpPr/>
      </dsp:nvSpPr>
      <dsp:spPr>
        <a:xfrm>
          <a:off x="0" y="3668896"/>
          <a:ext cx="62636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992AC4-D4C0-234B-A45D-5735EB76058E}">
      <dsp:nvSpPr>
        <dsp:cNvPr id="0" name=""/>
        <dsp:cNvSpPr/>
      </dsp:nvSpPr>
      <dsp:spPr>
        <a:xfrm>
          <a:off x="0" y="3668896"/>
          <a:ext cx="6263640" cy="916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4B6889"/>
              </a:solidFill>
            </a:rPr>
            <a:t>Improves privacy</a:t>
          </a:r>
          <a:r>
            <a:rPr lang="en-US" sz="2000" kern="1200" dirty="0">
              <a:solidFill>
                <a:srgbClr val="4B6889"/>
              </a:solidFill>
            </a:rPr>
            <a:t> by minimizing prompt leaks</a:t>
          </a:r>
        </a:p>
      </dsp:txBody>
      <dsp:txXfrm>
        <a:off x="0" y="3668896"/>
        <a:ext cx="6263640" cy="916552"/>
      </dsp:txXfrm>
    </dsp:sp>
    <dsp:sp modelId="{C83F23D5-B8A8-1845-8EC6-49BEC18D4246}">
      <dsp:nvSpPr>
        <dsp:cNvPr id="0" name=""/>
        <dsp:cNvSpPr/>
      </dsp:nvSpPr>
      <dsp:spPr>
        <a:xfrm>
          <a:off x="0" y="4585448"/>
          <a:ext cx="62636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C2EA79-57A8-B346-9614-CC0B0B1056DC}">
      <dsp:nvSpPr>
        <dsp:cNvPr id="0" name=""/>
        <dsp:cNvSpPr/>
      </dsp:nvSpPr>
      <dsp:spPr>
        <a:xfrm>
          <a:off x="0" y="4585448"/>
          <a:ext cx="6263640" cy="916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4B6889"/>
              </a:solidFill>
            </a:rPr>
            <a:t>Example</a:t>
          </a:r>
          <a:r>
            <a:rPr lang="en-US" sz="2000" kern="1200" dirty="0">
              <a:solidFill>
                <a:srgbClr val="4B6889"/>
              </a:solidFill>
            </a:rPr>
            <a:t>: Customer support bot uses RAG to answer from internal support docs instead of relying on pre-trained data</a:t>
          </a:r>
        </a:p>
      </dsp:txBody>
      <dsp:txXfrm>
        <a:off x="0" y="4585448"/>
        <a:ext cx="6263640" cy="9165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303497-54FB-654E-A11C-9AF6B59207EE}">
      <dsp:nvSpPr>
        <dsp:cNvPr id="0" name=""/>
        <dsp:cNvSpPr/>
      </dsp:nvSpPr>
      <dsp:spPr>
        <a:xfrm>
          <a:off x="0" y="2687"/>
          <a:ext cx="62636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B91229-20BD-B844-A35D-748883AA60D0}">
      <dsp:nvSpPr>
        <dsp:cNvPr id="0" name=""/>
        <dsp:cNvSpPr/>
      </dsp:nvSpPr>
      <dsp:spPr>
        <a:xfrm>
          <a:off x="0" y="2687"/>
          <a:ext cx="6263640" cy="916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>
              <a:solidFill>
                <a:srgbClr val="4B6889"/>
              </a:solidFill>
            </a:rPr>
            <a:t>Retrieval quality affects response quality</a:t>
          </a:r>
        </a:p>
      </dsp:txBody>
      <dsp:txXfrm>
        <a:off x="0" y="2687"/>
        <a:ext cx="6263640" cy="916552"/>
      </dsp:txXfrm>
    </dsp:sp>
    <dsp:sp modelId="{70FF6AED-E6C1-3F46-AE0A-C79A3BE4C957}">
      <dsp:nvSpPr>
        <dsp:cNvPr id="0" name=""/>
        <dsp:cNvSpPr/>
      </dsp:nvSpPr>
      <dsp:spPr>
        <a:xfrm>
          <a:off x="0" y="919239"/>
          <a:ext cx="62636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51ACD2-B704-654F-8000-A57BF3B6DF9F}">
      <dsp:nvSpPr>
        <dsp:cNvPr id="0" name=""/>
        <dsp:cNvSpPr/>
      </dsp:nvSpPr>
      <dsp:spPr>
        <a:xfrm>
          <a:off x="0" y="919239"/>
          <a:ext cx="6263640" cy="916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>
              <a:solidFill>
                <a:srgbClr val="4B6889"/>
              </a:solidFill>
            </a:rPr>
            <a:t>Context length limits in LLM</a:t>
          </a:r>
        </a:p>
      </dsp:txBody>
      <dsp:txXfrm>
        <a:off x="0" y="919239"/>
        <a:ext cx="6263640" cy="916552"/>
      </dsp:txXfrm>
    </dsp:sp>
    <dsp:sp modelId="{08A1DE1C-D654-4148-A429-A671628B84EB}">
      <dsp:nvSpPr>
        <dsp:cNvPr id="0" name=""/>
        <dsp:cNvSpPr/>
      </dsp:nvSpPr>
      <dsp:spPr>
        <a:xfrm>
          <a:off x="0" y="1835791"/>
          <a:ext cx="62636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BB5E4E-B94B-604F-A017-C11DAA3BC582}">
      <dsp:nvSpPr>
        <dsp:cNvPr id="0" name=""/>
        <dsp:cNvSpPr/>
      </dsp:nvSpPr>
      <dsp:spPr>
        <a:xfrm>
          <a:off x="0" y="1835791"/>
          <a:ext cx="6263640" cy="916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rgbClr val="4B6889"/>
              </a:solidFill>
            </a:rPr>
            <a:t>Requires</a:t>
          </a:r>
          <a:r>
            <a:rPr lang="en-US" sz="2400" kern="1200" baseline="0" dirty="0">
              <a:solidFill>
                <a:srgbClr val="4B6889"/>
              </a:solidFill>
            </a:rPr>
            <a:t> well-maintained Vector DB</a:t>
          </a:r>
          <a:endParaRPr lang="en-US" sz="2400" kern="1200" dirty="0">
            <a:solidFill>
              <a:srgbClr val="4B6889"/>
            </a:solidFill>
          </a:endParaRPr>
        </a:p>
      </dsp:txBody>
      <dsp:txXfrm>
        <a:off x="0" y="1835791"/>
        <a:ext cx="6263640" cy="916552"/>
      </dsp:txXfrm>
    </dsp:sp>
    <dsp:sp modelId="{11D39312-1A1D-7345-AC57-7CB69058AFE1}">
      <dsp:nvSpPr>
        <dsp:cNvPr id="0" name=""/>
        <dsp:cNvSpPr/>
      </dsp:nvSpPr>
      <dsp:spPr>
        <a:xfrm>
          <a:off x="0" y="2752344"/>
          <a:ext cx="62636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27F65D-B87D-7F44-AF61-9569CE3B0390}">
      <dsp:nvSpPr>
        <dsp:cNvPr id="0" name=""/>
        <dsp:cNvSpPr/>
      </dsp:nvSpPr>
      <dsp:spPr>
        <a:xfrm>
          <a:off x="0" y="2752344"/>
          <a:ext cx="6263640" cy="916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rgbClr val="4B6889"/>
              </a:solidFill>
            </a:rPr>
            <a:t>May still need post-retrieval re-ranking</a:t>
          </a:r>
        </a:p>
      </dsp:txBody>
      <dsp:txXfrm>
        <a:off x="0" y="2752344"/>
        <a:ext cx="6263640" cy="916552"/>
      </dsp:txXfrm>
    </dsp:sp>
    <dsp:sp modelId="{97EC6A5E-7108-2848-BD5C-4CEA4F988281}">
      <dsp:nvSpPr>
        <dsp:cNvPr id="0" name=""/>
        <dsp:cNvSpPr/>
      </dsp:nvSpPr>
      <dsp:spPr>
        <a:xfrm>
          <a:off x="0" y="3668896"/>
          <a:ext cx="62636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992AC4-D4C0-234B-A45D-5735EB76058E}">
      <dsp:nvSpPr>
        <dsp:cNvPr id="0" name=""/>
        <dsp:cNvSpPr/>
      </dsp:nvSpPr>
      <dsp:spPr>
        <a:xfrm>
          <a:off x="0" y="3668896"/>
          <a:ext cx="6263640" cy="916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>
              <a:solidFill>
                <a:srgbClr val="4B6889"/>
              </a:solidFill>
            </a:rPr>
            <a:t>If irrelevant documents are retrieved due to poor embedding, answer quality drops significantly </a:t>
          </a:r>
        </a:p>
      </dsp:txBody>
      <dsp:txXfrm>
        <a:off x="0" y="3668896"/>
        <a:ext cx="6263640" cy="916552"/>
      </dsp:txXfrm>
    </dsp:sp>
    <dsp:sp modelId="{C83F23D5-B8A8-1845-8EC6-49BEC18D4246}">
      <dsp:nvSpPr>
        <dsp:cNvPr id="0" name=""/>
        <dsp:cNvSpPr/>
      </dsp:nvSpPr>
      <dsp:spPr>
        <a:xfrm>
          <a:off x="0" y="4585448"/>
          <a:ext cx="62636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C2EA79-57A8-B346-9614-CC0B0B1056DC}">
      <dsp:nvSpPr>
        <dsp:cNvPr id="0" name=""/>
        <dsp:cNvSpPr/>
      </dsp:nvSpPr>
      <dsp:spPr>
        <a:xfrm>
          <a:off x="0" y="4585448"/>
          <a:ext cx="6263640" cy="916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 dirty="0"/>
        </a:p>
      </dsp:txBody>
      <dsp:txXfrm>
        <a:off x="0" y="4585448"/>
        <a:ext cx="6263640" cy="91655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F863D7-B511-4E86-91D5-985A6E3353BE}">
      <dsp:nvSpPr>
        <dsp:cNvPr id="0" name=""/>
        <dsp:cNvSpPr/>
      </dsp:nvSpPr>
      <dsp:spPr>
        <a:xfrm>
          <a:off x="0" y="707092"/>
          <a:ext cx="10515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A876D5-063E-4316-B931-CEA8C1923F79}">
      <dsp:nvSpPr>
        <dsp:cNvPr id="0" name=""/>
        <dsp:cNvSpPr/>
      </dsp:nvSpPr>
      <dsp:spPr>
        <a:xfrm>
          <a:off x="394883" y="1000807"/>
          <a:ext cx="717970" cy="7179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F7F11B-3AD5-4F9F-A381-ED53C21E11ED}">
      <dsp:nvSpPr>
        <dsp:cNvPr id="0" name=""/>
        <dsp:cNvSpPr/>
      </dsp:nvSpPr>
      <dsp:spPr>
        <a:xfrm>
          <a:off x="1507738" y="707092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Reranking</a:t>
          </a:r>
          <a:r>
            <a:rPr lang="en-US" sz="2500" kern="1200"/>
            <a:t>: Reorder retrieved documents with scoring model</a:t>
          </a:r>
        </a:p>
      </dsp:txBody>
      <dsp:txXfrm>
        <a:off x="1507738" y="707092"/>
        <a:ext cx="9007861" cy="1305401"/>
      </dsp:txXfrm>
    </dsp:sp>
    <dsp:sp modelId="{E39DEC86-4D51-47B0-938A-8BC0FD66B768}">
      <dsp:nvSpPr>
        <dsp:cNvPr id="0" name=""/>
        <dsp:cNvSpPr/>
      </dsp:nvSpPr>
      <dsp:spPr>
        <a:xfrm>
          <a:off x="0" y="2338844"/>
          <a:ext cx="10515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0F607F-5342-417E-8217-3A55BFD1BEEB}">
      <dsp:nvSpPr>
        <dsp:cNvPr id="0" name=""/>
        <dsp:cNvSpPr/>
      </dsp:nvSpPr>
      <dsp:spPr>
        <a:xfrm>
          <a:off x="394883" y="2632559"/>
          <a:ext cx="717970" cy="7179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54D3AA-C15E-4848-B166-9EAE83190F91}">
      <dsp:nvSpPr>
        <dsp:cNvPr id="0" name=""/>
        <dsp:cNvSpPr/>
      </dsp:nvSpPr>
      <dsp:spPr>
        <a:xfrm>
          <a:off x="1507738" y="2338844"/>
          <a:ext cx="4732020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HyDE (Hypothetical Document Embeddings)</a:t>
          </a:r>
          <a:r>
            <a:rPr lang="en-US" sz="2500" kern="1200"/>
            <a:t>:</a:t>
          </a:r>
        </a:p>
      </dsp:txBody>
      <dsp:txXfrm>
        <a:off x="1507738" y="2338844"/>
        <a:ext cx="4732020" cy="1305401"/>
      </dsp:txXfrm>
    </dsp:sp>
    <dsp:sp modelId="{0CD71BE4-FDEE-4A9D-A74A-25353D1C470C}">
      <dsp:nvSpPr>
        <dsp:cNvPr id="0" name=""/>
        <dsp:cNvSpPr/>
      </dsp:nvSpPr>
      <dsp:spPr>
        <a:xfrm>
          <a:off x="6239758" y="2338844"/>
          <a:ext cx="427584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Generate hypothetical answer</a:t>
          </a:r>
        </a:p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Use it as a query to retrieve better documents</a:t>
          </a:r>
        </a:p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Example</a:t>
          </a:r>
          <a:r>
            <a:rPr lang="en-US" sz="1300" kern="1200"/>
            <a:t>: Query: "How does quantum computing work?" → LLM generates an explanation → used as search query</a:t>
          </a:r>
        </a:p>
      </dsp:txBody>
      <dsp:txXfrm>
        <a:off x="6239758" y="2338844"/>
        <a:ext cx="4275841" cy="13054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4B5B6E-89B5-EB40-9539-72F04674D322}" type="datetimeFigureOut">
              <a:rPr lang="en-US" smtClean="0"/>
              <a:t>7/3/25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E7073F-363E-FC45-AA1E-47CD6ACC0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352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B4F32-0E5D-B34B-BD5C-D1E017325ACA}" type="datetimeFigureOut">
              <a:rPr lang="en-US" smtClean="0"/>
              <a:t>7/3/25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FB38A-B229-FD44-B280-D071D500E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251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B4F32-0E5D-B34B-BD5C-D1E017325ACA}" type="datetimeFigureOut">
              <a:rPr lang="en-US" smtClean="0"/>
              <a:t>7/3/25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FB38A-B229-FD44-B280-D071D500E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646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B4F32-0E5D-B34B-BD5C-D1E017325ACA}" type="datetimeFigureOut">
              <a:rPr lang="en-US" smtClean="0"/>
              <a:t>7/3/25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FB38A-B229-FD44-B280-D071D500E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835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B4F32-0E5D-B34B-BD5C-D1E017325ACA}" type="datetimeFigureOut">
              <a:rPr lang="en-US" smtClean="0"/>
              <a:t>7/3/25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FB38A-B229-FD44-B280-D071D500E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043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B4F32-0E5D-B34B-BD5C-D1E017325ACA}" type="datetimeFigureOut">
              <a:rPr lang="en-US" smtClean="0"/>
              <a:t>7/3/25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FB38A-B229-FD44-B280-D071D500E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999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B4F32-0E5D-B34B-BD5C-D1E017325ACA}" type="datetimeFigureOut">
              <a:rPr lang="en-US" smtClean="0"/>
              <a:t>7/3/25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FB38A-B229-FD44-B280-D071D500E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98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B4F32-0E5D-B34B-BD5C-D1E017325ACA}" type="datetimeFigureOut">
              <a:rPr lang="en-US" smtClean="0"/>
              <a:t>7/3/25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FB38A-B229-FD44-B280-D071D500E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262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B4F32-0E5D-B34B-BD5C-D1E017325ACA}" type="datetimeFigureOut">
              <a:rPr lang="en-US" smtClean="0"/>
              <a:t>7/3/25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FB38A-B229-FD44-B280-D071D500E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762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B4F32-0E5D-B34B-BD5C-D1E017325ACA}" type="datetimeFigureOut">
              <a:rPr lang="en-US" smtClean="0"/>
              <a:t>7/3/25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FB38A-B229-FD44-B280-D071D500E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563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B4F32-0E5D-B34B-BD5C-D1E017325ACA}" type="datetimeFigureOut">
              <a:rPr lang="en-US" smtClean="0"/>
              <a:t>7/3/25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FB38A-B229-FD44-B280-D071D500E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630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B4F32-0E5D-B34B-BD5C-D1E017325ACA}" type="datetimeFigureOut">
              <a:rPr lang="en-US" smtClean="0"/>
              <a:t>7/3/25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FB38A-B229-FD44-B280-D071D500E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464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7B4F32-0E5D-B34B-BD5C-D1E017325ACA}" type="datetimeFigureOut">
              <a:rPr lang="en-US" smtClean="0"/>
              <a:t>7/3/25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1FB38A-B229-FD44-B280-D071D500E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298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C817392A-0865-E852-7549-A3016ACAC9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627" b="-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4704EE-34DD-7010-89FA-7BD089535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400" dirty="0">
                <a:solidFill>
                  <a:srgbClr val="2F85A2"/>
                </a:solidFill>
              </a:rPr>
              <a:t>Semantic Search and Retrieval-Augmented Generation (RAG)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229A3B-8365-20A5-C566-876AB853BB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Shraddha Sharma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3649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04DDB9-740E-D514-2B9C-28DCBB43B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2F85A2"/>
                </a:solidFill>
              </a:rPr>
              <a:t>Agenda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C29FD-FB38-D57E-6A65-A5BEF3F44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2600" dirty="0">
                <a:solidFill>
                  <a:srgbClr val="4B6889"/>
                </a:solidFill>
              </a:rPr>
              <a:t>Encoder-only Transformers for Dense Embeddings</a:t>
            </a:r>
          </a:p>
          <a:p>
            <a:r>
              <a:rPr lang="en-US" sz="2600" dirty="0">
                <a:solidFill>
                  <a:srgbClr val="4B6889"/>
                </a:solidFill>
              </a:rPr>
              <a:t>Sentence Embeddings over Word Embeddings</a:t>
            </a:r>
          </a:p>
          <a:p>
            <a:r>
              <a:rPr lang="en-US" sz="2600" dirty="0">
                <a:solidFill>
                  <a:srgbClr val="4B6889"/>
                </a:solidFill>
              </a:rPr>
              <a:t>Semantic Search with Transformers</a:t>
            </a:r>
          </a:p>
          <a:p>
            <a:r>
              <a:rPr lang="en-US" sz="2600" dirty="0">
                <a:solidFill>
                  <a:srgbClr val="4B6889"/>
                </a:solidFill>
              </a:rPr>
              <a:t>Sentence Embeddings using Cosine Similarity</a:t>
            </a:r>
          </a:p>
          <a:p>
            <a:r>
              <a:rPr lang="en-US" sz="2600" dirty="0">
                <a:solidFill>
                  <a:srgbClr val="4B6889"/>
                </a:solidFill>
              </a:rPr>
              <a:t>Semantic Search in RAG</a:t>
            </a:r>
          </a:p>
          <a:p>
            <a:r>
              <a:rPr lang="en-US" sz="2600" dirty="0">
                <a:solidFill>
                  <a:srgbClr val="4B6889"/>
                </a:solidFill>
              </a:rPr>
              <a:t>RAG Workflow</a:t>
            </a:r>
          </a:p>
          <a:p>
            <a:r>
              <a:rPr lang="en-US" sz="2600" dirty="0">
                <a:solidFill>
                  <a:srgbClr val="4B6889"/>
                </a:solidFill>
              </a:rPr>
              <a:t>Benefits &amp; Limitations of RAG</a:t>
            </a:r>
          </a:p>
          <a:p>
            <a:r>
              <a:rPr lang="en-US" sz="2600" dirty="0">
                <a:solidFill>
                  <a:srgbClr val="4B6889"/>
                </a:solidFill>
              </a:rPr>
              <a:t>RAG Evaluation Mechanisms</a:t>
            </a:r>
          </a:p>
          <a:p>
            <a:r>
              <a:rPr lang="en-US" sz="2600" dirty="0">
                <a:solidFill>
                  <a:srgbClr val="4B6889"/>
                </a:solidFill>
              </a:rPr>
              <a:t>Advanced RAG Methods</a:t>
            </a:r>
          </a:p>
        </p:txBody>
      </p:sp>
    </p:spTree>
    <p:extLst>
      <p:ext uri="{BB962C8B-B14F-4D97-AF65-F5344CB8AC3E}">
        <p14:creationId xmlns:p14="http://schemas.microsoft.com/office/powerpoint/2010/main" val="389363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84C8DD-F027-0DE3-7B73-CF8CE84A3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2F85A2"/>
                </a:solidFill>
              </a:rPr>
              <a:t>Traditional Language Models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16AC4-0D49-5F84-C4A5-3737FA923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4B6889"/>
                </a:solidFill>
              </a:rPr>
              <a:t>Integer encoding</a:t>
            </a:r>
          </a:p>
          <a:p>
            <a:pPr lvl="1"/>
            <a:r>
              <a:rPr lang="en-US" dirty="0">
                <a:solidFill>
                  <a:srgbClr val="4B6889"/>
                </a:solidFill>
              </a:rPr>
              <a:t>One-hot encoding</a:t>
            </a:r>
          </a:p>
          <a:p>
            <a:pPr lvl="1"/>
            <a:r>
              <a:rPr lang="en-US" dirty="0">
                <a:solidFill>
                  <a:srgbClr val="4B6889"/>
                </a:solidFill>
              </a:rPr>
              <a:t>Bag-of-Words</a:t>
            </a:r>
          </a:p>
          <a:p>
            <a:pPr lvl="1"/>
            <a:r>
              <a:rPr lang="en-US" dirty="0">
                <a:solidFill>
                  <a:srgbClr val="4B6889"/>
                </a:solidFill>
              </a:rPr>
              <a:t>Term Frequency-Inverse Document Frequency (TF-IDF)</a:t>
            </a:r>
          </a:p>
          <a:p>
            <a:r>
              <a:rPr lang="en-US" dirty="0">
                <a:solidFill>
                  <a:srgbClr val="4B6889"/>
                </a:solidFill>
              </a:rPr>
              <a:t>Word embeddings</a:t>
            </a:r>
          </a:p>
          <a:p>
            <a:pPr lvl="1"/>
            <a:r>
              <a:rPr lang="en-US" dirty="0">
                <a:solidFill>
                  <a:srgbClr val="4B6889"/>
                </a:solidFill>
              </a:rPr>
              <a:t>Word based models (Word2Vec, </a:t>
            </a:r>
            <a:r>
              <a:rPr lang="en-US" dirty="0" err="1">
                <a:solidFill>
                  <a:srgbClr val="4B6889"/>
                </a:solidFill>
              </a:rPr>
              <a:t>GloVe</a:t>
            </a:r>
            <a:r>
              <a:rPr lang="en-US" dirty="0">
                <a:solidFill>
                  <a:srgbClr val="4B6889"/>
                </a:solidFill>
              </a:rPr>
              <a:t>)</a:t>
            </a:r>
          </a:p>
          <a:p>
            <a:pPr lvl="1"/>
            <a:r>
              <a:rPr lang="en-US" dirty="0">
                <a:solidFill>
                  <a:srgbClr val="4B6889"/>
                </a:solidFill>
              </a:rPr>
              <a:t>Character based models (</a:t>
            </a:r>
            <a:r>
              <a:rPr lang="en-US" dirty="0" err="1">
                <a:solidFill>
                  <a:srgbClr val="4B6889"/>
                </a:solidFill>
              </a:rPr>
              <a:t>ElMo</a:t>
            </a:r>
            <a:r>
              <a:rPr lang="en-US" dirty="0">
                <a:solidFill>
                  <a:srgbClr val="4B6889"/>
                </a:solidFill>
              </a:rPr>
              <a:t>, BERT)</a:t>
            </a:r>
          </a:p>
          <a:p>
            <a:pPr lvl="2"/>
            <a:r>
              <a:rPr lang="en-US" dirty="0" err="1">
                <a:solidFill>
                  <a:srgbClr val="4B6889"/>
                </a:solidFill>
              </a:rPr>
              <a:t>ELMo</a:t>
            </a:r>
            <a:r>
              <a:rPr lang="en-US" dirty="0">
                <a:solidFill>
                  <a:srgbClr val="4B6889"/>
                </a:solidFill>
              </a:rPr>
              <a:t> (Embedding from Language Model)</a:t>
            </a:r>
          </a:p>
          <a:p>
            <a:pPr lvl="2"/>
            <a:r>
              <a:rPr lang="en-US" dirty="0">
                <a:solidFill>
                  <a:srgbClr val="4B6889"/>
                </a:solidFill>
              </a:rPr>
              <a:t>BERT (Bidirectional Encoder Representations from Transformers)</a:t>
            </a:r>
          </a:p>
          <a:p>
            <a:pPr lvl="2"/>
            <a:endParaRPr lang="en-US" dirty="0">
              <a:solidFill>
                <a:srgbClr val="4B68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5054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9420D-F09D-F412-F89D-533146E4C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9723C-033B-DD2F-E34D-AC80EE712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2F85A2"/>
                </a:solidFill>
              </a:rPr>
              <a:t>Transformer model</a:t>
            </a:r>
            <a:endParaRPr lang="en-US" dirty="0">
              <a:solidFill>
                <a:srgbClr val="2F85A2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EDF4182-AF88-E47A-D2E6-14E73D946383}"/>
              </a:ext>
            </a:extLst>
          </p:cNvPr>
          <p:cNvSpPr/>
          <p:nvPr/>
        </p:nvSpPr>
        <p:spPr>
          <a:xfrm>
            <a:off x="622091" y="2585805"/>
            <a:ext cx="2233534" cy="989351"/>
          </a:xfrm>
          <a:prstGeom prst="roundRect">
            <a:avLst/>
          </a:prstGeom>
          <a:pattFill prst="pct25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7030A0"/>
                </a:solidFill>
              </a:rPr>
              <a:t>Input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78D7BA9-E1F0-06A8-6986-3C037CB46433}"/>
              </a:ext>
            </a:extLst>
          </p:cNvPr>
          <p:cNvSpPr/>
          <p:nvPr/>
        </p:nvSpPr>
        <p:spPr>
          <a:xfrm>
            <a:off x="9336375" y="2585805"/>
            <a:ext cx="2233534" cy="989351"/>
          </a:xfrm>
          <a:prstGeom prst="roundRect">
            <a:avLst/>
          </a:prstGeom>
          <a:pattFill prst="pct4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7030A0"/>
                </a:solidFill>
              </a:rPr>
              <a:t>Output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2261ACF-A09B-19E8-23A5-90AFD8CA81EA}"/>
              </a:ext>
            </a:extLst>
          </p:cNvPr>
          <p:cNvSpPr/>
          <p:nvPr/>
        </p:nvSpPr>
        <p:spPr>
          <a:xfrm>
            <a:off x="3640667" y="1792090"/>
            <a:ext cx="4859866" cy="2576782"/>
          </a:xfrm>
          <a:prstGeom prst="roundRect">
            <a:avLst/>
          </a:prstGeom>
          <a:noFill/>
          <a:ln w="508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accent6"/>
                </a:solidFill>
              </a:rPr>
              <a:t>The Transformer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559940E-C30D-63C9-EAB3-1B438B5D4142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2855625" y="3080481"/>
            <a:ext cx="785042" cy="0"/>
          </a:xfrm>
          <a:prstGeom prst="straightConnector1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E632A59-8DC5-6F74-D318-618F33219A5D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8500533" y="3080480"/>
            <a:ext cx="835842" cy="1"/>
          </a:xfrm>
          <a:prstGeom prst="straightConnector1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4" name="Graphic 13" descr="Fire with solid fill">
            <a:extLst>
              <a:ext uri="{FF2B5EF4-FFF2-40B4-BE49-F238E27FC236}">
                <a16:creationId xmlns:a16="http://schemas.microsoft.com/office/drawing/2014/main" id="{C4022038-7711-C726-0913-42ED6F5408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86133" y="3267476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2436987-41E9-00AA-827A-999DDF25E454}"/>
              </a:ext>
            </a:extLst>
          </p:cNvPr>
          <p:cNvSpPr txBox="1"/>
          <p:nvPr/>
        </p:nvSpPr>
        <p:spPr>
          <a:xfrm>
            <a:off x="1096224" y="4783637"/>
            <a:ext cx="273896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4B6889"/>
                </a:solidFill>
                <a:cs typeface="Times New Roman" panose="02020603050405020304" pitchFamily="18" charset="0"/>
              </a:rPr>
              <a:t>F</a:t>
            </a:r>
            <a:r>
              <a:rPr lang="en-US" b="0" i="0" dirty="0">
                <a:solidFill>
                  <a:srgbClr val="4B6889"/>
                </a:solidFill>
                <a:effectLst/>
                <a:cs typeface="Times New Roman" panose="02020603050405020304" pitchFamily="18" charset="0"/>
              </a:rPr>
              <a:t>irst transformer model was introduced in 2017 by Google researchers in the paper "</a:t>
            </a:r>
            <a:r>
              <a:rPr lang="en-US" dirty="0">
                <a:solidFill>
                  <a:schemeClr val="accent6"/>
                </a:solidFill>
                <a:cs typeface="Times New Roman" panose="02020603050405020304" pitchFamily="18" charset="0"/>
              </a:rPr>
              <a:t>Attention is All You Need</a:t>
            </a:r>
            <a:r>
              <a:rPr lang="en-US" b="0" i="0" dirty="0">
                <a:solidFill>
                  <a:srgbClr val="001D35"/>
                </a:solidFill>
                <a:effectLst/>
                <a:cs typeface="Times New Roman" panose="02020603050405020304" pitchFamily="18" charset="0"/>
              </a:rPr>
              <a:t>".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391377-5502-9B01-8909-1D2CDADD1083}"/>
              </a:ext>
            </a:extLst>
          </p:cNvPr>
          <p:cNvSpPr txBox="1"/>
          <p:nvPr/>
        </p:nvSpPr>
        <p:spPr>
          <a:xfrm>
            <a:off x="4701117" y="4783637"/>
            <a:ext cx="27389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4B6889"/>
                </a:solidFill>
                <a:cs typeface="Times New Roman" panose="02020603050405020304" pitchFamily="18" charset="0"/>
              </a:rPr>
              <a:t>For sequence-to-sequence tasks in NLP.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4014CB-7556-1AA0-3CF6-817DE3C8EF65}"/>
              </a:ext>
            </a:extLst>
          </p:cNvPr>
          <p:cNvSpPr txBox="1"/>
          <p:nvPr/>
        </p:nvSpPr>
        <p:spPr>
          <a:xfrm>
            <a:off x="8356810" y="4783637"/>
            <a:ext cx="273896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/>
                </a:solidFill>
                <a:cs typeface="Times New Roman" panose="02020603050405020304" pitchFamily="18" charset="0"/>
              </a:rPr>
              <a:t>Self-Attention</a:t>
            </a:r>
            <a:r>
              <a:rPr lang="en-US" dirty="0">
                <a:solidFill>
                  <a:srgbClr val="001D35"/>
                </a:solidFill>
                <a:cs typeface="Times New Roman" panose="02020603050405020304" pitchFamily="18" charset="0"/>
              </a:rPr>
              <a:t>: </a:t>
            </a:r>
            <a:r>
              <a:rPr lang="en-US" dirty="0">
                <a:solidFill>
                  <a:srgbClr val="4B6889"/>
                </a:solidFill>
                <a:cs typeface="Times New Roman" panose="02020603050405020304" pitchFamily="18" charset="0"/>
              </a:rPr>
              <a:t>Allowed the model to </a:t>
            </a:r>
            <a:r>
              <a:rPr lang="en-US" dirty="0">
                <a:solidFill>
                  <a:schemeClr val="accent6"/>
                </a:solidFill>
                <a:cs typeface="Times New Roman" panose="02020603050405020304" pitchFamily="18" charset="0"/>
              </a:rPr>
              <a:t>process all words in a sentence simultaneously</a:t>
            </a:r>
            <a:r>
              <a:rPr lang="en-US" dirty="0">
                <a:cs typeface="Times New Roman" panose="02020603050405020304" pitchFamily="18" charset="0"/>
              </a:rPr>
              <a:t>, </a:t>
            </a:r>
            <a:r>
              <a:rPr lang="en-US" dirty="0">
                <a:solidFill>
                  <a:srgbClr val="4B6889"/>
                </a:solidFill>
                <a:cs typeface="Times New Roman" panose="02020603050405020304" pitchFamily="18" charset="0"/>
              </a:rPr>
              <a:t>rather than sequentially like RNNs. 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C04FCD-EC9D-9B4E-3A06-57D45A66FA13}"/>
              </a:ext>
            </a:extLst>
          </p:cNvPr>
          <p:cNvSpPr txBox="1"/>
          <p:nvPr/>
        </p:nvSpPr>
        <p:spPr>
          <a:xfrm>
            <a:off x="4701117" y="5522301"/>
            <a:ext cx="27389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4B6889"/>
                </a:solidFill>
                <a:cs typeface="Times New Roman" panose="02020603050405020304" pitchFamily="18" charset="0"/>
              </a:rPr>
              <a:t>Replaced RNNs with Self-Attention mechanism</a:t>
            </a:r>
            <a:endParaRPr lang="en-US" dirty="0">
              <a:solidFill>
                <a:srgbClr val="4B6889"/>
              </a:solidFill>
            </a:endParaRPr>
          </a:p>
        </p:txBody>
      </p:sp>
      <p:pic>
        <p:nvPicPr>
          <p:cNvPr id="28" name="Graphic 27" descr="Clipboard with solid fill">
            <a:extLst>
              <a:ext uri="{FF2B5EF4-FFF2-40B4-BE49-F238E27FC236}">
                <a16:creationId xmlns:a16="http://schemas.microsoft.com/office/drawing/2014/main" id="{AEBF6393-1189-1A08-02D1-1608F0B539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9892" y="4738549"/>
            <a:ext cx="646332" cy="646332"/>
          </a:xfrm>
          <a:prstGeom prst="rect">
            <a:avLst/>
          </a:prstGeom>
        </p:spPr>
      </p:pic>
      <p:pic>
        <p:nvPicPr>
          <p:cNvPr id="29" name="Graphic 28" descr="Clipboard with solid fill">
            <a:extLst>
              <a:ext uri="{FF2B5EF4-FFF2-40B4-BE49-F238E27FC236}">
                <a16:creationId xmlns:a16="http://schemas.microsoft.com/office/drawing/2014/main" id="{320CAB2F-66C2-9C5A-1470-EB01CCC43A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54785" y="4783637"/>
            <a:ext cx="646332" cy="646332"/>
          </a:xfrm>
          <a:prstGeom prst="rect">
            <a:avLst/>
          </a:prstGeom>
        </p:spPr>
      </p:pic>
      <p:pic>
        <p:nvPicPr>
          <p:cNvPr id="30" name="Graphic 29" descr="Clipboard with solid fill">
            <a:extLst>
              <a:ext uri="{FF2B5EF4-FFF2-40B4-BE49-F238E27FC236}">
                <a16:creationId xmlns:a16="http://schemas.microsoft.com/office/drawing/2014/main" id="{D8841067-C9F5-4197-F029-B226ECE8B4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43726" y="4765873"/>
            <a:ext cx="646332" cy="64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553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0B9F5-4537-5AC8-D271-E2E387977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5BEB7-72A0-F676-5997-45A89DE28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2F85A2"/>
                </a:solidFill>
              </a:rPr>
              <a:t>Transformer model</a:t>
            </a:r>
            <a:endParaRPr lang="en-US" dirty="0">
              <a:solidFill>
                <a:srgbClr val="2F85A2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9736E65-D607-F0A8-557A-3BA3EB1E5C3F}"/>
              </a:ext>
            </a:extLst>
          </p:cNvPr>
          <p:cNvSpPr/>
          <p:nvPr/>
        </p:nvSpPr>
        <p:spPr>
          <a:xfrm>
            <a:off x="622091" y="2484204"/>
            <a:ext cx="2233534" cy="989351"/>
          </a:xfrm>
          <a:prstGeom prst="roundRect">
            <a:avLst/>
          </a:prstGeom>
          <a:pattFill prst="pct25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7030A0"/>
                </a:solidFill>
              </a:rPr>
              <a:t>Input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5520EB0-A4F7-D2D4-C21F-89C7D0C2D5CF}"/>
              </a:ext>
            </a:extLst>
          </p:cNvPr>
          <p:cNvSpPr/>
          <p:nvPr/>
        </p:nvSpPr>
        <p:spPr>
          <a:xfrm>
            <a:off x="9336375" y="2484204"/>
            <a:ext cx="2233534" cy="989351"/>
          </a:xfrm>
          <a:prstGeom prst="roundRect">
            <a:avLst/>
          </a:prstGeom>
          <a:pattFill prst="pct4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7030A0"/>
                </a:solidFill>
              </a:rPr>
              <a:t>Output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5A23899-B6C9-0BEB-9FEA-3652635569F4}"/>
              </a:ext>
            </a:extLst>
          </p:cNvPr>
          <p:cNvSpPr/>
          <p:nvPr/>
        </p:nvSpPr>
        <p:spPr>
          <a:xfrm>
            <a:off x="3640667" y="1690489"/>
            <a:ext cx="4859866" cy="2576782"/>
          </a:xfrm>
          <a:prstGeom prst="roundRect">
            <a:avLst/>
          </a:prstGeom>
          <a:noFill/>
          <a:ln w="508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accent2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F759023-205B-3350-46A8-1F8CF6EDD3ED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2855625" y="2978880"/>
            <a:ext cx="785042" cy="0"/>
          </a:xfrm>
          <a:prstGeom prst="straightConnector1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4663AEE-A850-FF0C-5BB4-4570DF09CCE2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8500533" y="2978879"/>
            <a:ext cx="835842" cy="1"/>
          </a:xfrm>
          <a:prstGeom prst="straightConnector1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4D3753E-5FF7-C7D3-B54C-115A2B91B3C5}"/>
              </a:ext>
            </a:extLst>
          </p:cNvPr>
          <p:cNvSpPr/>
          <p:nvPr/>
        </p:nvSpPr>
        <p:spPr>
          <a:xfrm>
            <a:off x="4064001" y="2747778"/>
            <a:ext cx="1777999" cy="1342732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Encoder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0B22DEE-AB18-D0E0-95FC-E76F84415A2F}"/>
              </a:ext>
            </a:extLst>
          </p:cNvPr>
          <p:cNvSpPr/>
          <p:nvPr/>
        </p:nvSpPr>
        <p:spPr>
          <a:xfrm>
            <a:off x="6366932" y="2747777"/>
            <a:ext cx="1777999" cy="1342733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Decoder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25D527A-D55C-9BE7-4408-A15E19084B33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>
            <a:off x="5842000" y="3419144"/>
            <a:ext cx="524932" cy="0"/>
          </a:xfrm>
          <a:prstGeom prst="straightConnector1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8038680-D962-7C81-A584-2BF79BF33901}"/>
              </a:ext>
            </a:extLst>
          </p:cNvPr>
          <p:cNvSpPr txBox="1"/>
          <p:nvPr/>
        </p:nvSpPr>
        <p:spPr>
          <a:xfrm>
            <a:off x="3048000" y="229384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</a:rPr>
              <a:t>The Transformer </a:t>
            </a:r>
          </a:p>
        </p:txBody>
      </p:sp>
      <p:pic>
        <p:nvPicPr>
          <p:cNvPr id="17" name="Graphic 16" descr="Fire with solid fill">
            <a:extLst>
              <a:ext uri="{FF2B5EF4-FFF2-40B4-BE49-F238E27FC236}">
                <a16:creationId xmlns:a16="http://schemas.microsoft.com/office/drawing/2014/main" id="{B6CDC785-523D-4BFE-AE1E-BBF037976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63556" y="2205051"/>
            <a:ext cx="458129" cy="4581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B5EAF41-4BA2-F91B-C8D9-7431E2B6FBD0}"/>
              </a:ext>
            </a:extLst>
          </p:cNvPr>
          <p:cNvSpPr txBox="1"/>
          <p:nvPr/>
        </p:nvSpPr>
        <p:spPr>
          <a:xfrm>
            <a:off x="3048000" y="4731625"/>
            <a:ext cx="294029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itchFamily="2" charset="2"/>
              <a:buChar char="§"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</a:t>
            </a:r>
            <a:r>
              <a:rPr lang="en-US" b="0" i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</a:rPr>
              <a:t>nly concerned with the input sequence</a:t>
            </a:r>
          </a:p>
          <a:p>
            <a:pPr marL="285750" indent="-285750" algn="just">
              <a:buFont typeface="Wingdings" pitchFamily="2" charset="2"/>
              <a:buChar char="§"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</a:t>
            </a:r>
            <a:r>
              <a:rPr lang="en-US" b="0" i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</a:rPr>
              <a:t>oes not generate any output sequence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285750" indent="-285750" algn="just">
              <a:buFont typeface="Wingdings" pitchFamily="2" charset="2"/>
              <a:buChar char="§"/>
            </a:pPr>
            <a:r>
              <a:rPr lang="en-US" b="0" i="0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</a:rPr>
              <a:t>Applies self-attention mechanism to the input tokens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7060EE-F607-E793-FF62-83771E7C6987}"/>
              </a:ext>
            </a:extLst>
          </p:cNvPr>
          <p:cNvSpPr txBox="1"/>
          <p:nvPr/>
        </p:nvSpPr>
        <p:spPr>
          <a:xfrm>
            <a:off x="6096000" y="4694084"/>
            <a:ext cx="3403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itchFamily="2" charset="2"/>
              <a:buChar char="§"/>
            </a:pPr>
            <a:r>
              <a:rPr lang="en-US" dirty="0">
                <a:latin typeface="source-serif-pro"/>
              </a:rPr>
              <a:t>T</a:t>
            </a:r>
            <a:r>
              <a:rPr lang="en-US" b="0" i="0" dirty="0">
                <a:effectLst/>
                <a:latin typeface="source-serif-pro"/>
              </a:rPr>
              <a:t>akes in a fixed-size vector representation of the context.</a:t>
            </a:r>
          </a:p>
          <a:p>
            <a:pPr marL="285750" indent="-285750" algn="just">
              <a:buFont typeface="Wingdings" pitchFamily="2" charset="2"/>
              <a:buChar char="§"/>
            </a:pPr>
            <a:r>
              <a:rPr lang="en-US" dirty="0">
                <a:latin typeface="source-serif-pro"/>
              </a:rPr>
              <a:t>G</a:t>
            </a:r>
            <a:r>
              <a:rPr lang="en-US" b="0" i="0" dirty="0">
                <a:effectLst/>
                <a:latin typeface="source-serif-pro"/>
              </a:rPr>
              <a:t>enerates a sequence of words one at a time</a:t>
            </a:r>
          </a:p>
          <a:p>
            <a:pPr marL="285750" indent="-285750" algn="just">
              <a:buFont typeface="Wingdings" pitchFamily="2" charset="2"/>
              <a:buChar char="§"/>
            </a:pPr>
            <a:r>
              <a:rPr lang="en-US" dirty="0">
                <a:latin typeface="source-serif-pro"/>
              </a:rPr>
              <a:t>E</a:t>
            </a:r>
            <a:r>
              <a:rPr lang="en-US" b="0" i="0" dirty="0">
                <a:effectLst/>
                <a:latin typeface="source-serif-pro"/>
              </a:rPr>
              <a:t>ach word being conditioned on the previously generated words.</a:t>
            </a:r>
            <a:endParaRPr lang="en-US"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8E7FB1F-0E97-B4E7-3940-337B137F1D46}"/>
              </a:ext>
            </a:extLst>
          </p:cNvPr>
          <p:cNvSpPr/>
          <p:nvPr/>
        </p:nvSpPr>
        <p:spPr>
          <a:xfrm>
            <a:off x="4064000" y="4393477"/>
            <a:ext cx="1777999" cy="264349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Encoder-Only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088DA4A-C495-CF97-50C3-DA645461D3D4}"/>
              </a:ext>
            </a:extLst>
          </p:cNvPr>
          <p:cNvSpPr/>
          <p:nvPr/>
        </p:nvSpPr>
        <p:spPr>
          <a:xfrm>
            <a:off x="6434665" y="4393476"/>
            <a:ext cx="1777999" cy="264349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Decoder-Only</a:t>
            </a:r>
          </a:p>
        </p:txBody>
      </p:sp>
    </p:spTree>
    <p:extLst>
      <p:ext uri="{BB962C8B-B14F-4D97-AF65-F5344CB8AC3E}">
        <p14:creationId xmlns:p14="http://schemas.microsoft.com/office/powerpoint/2010/main" val="4114809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B7BAA-082E-D013-444F-BCC003A5F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83502-6552-C077-FA7C-AA9EB8DDC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2F85A2"/>
                </a:solidFill>
              </a:rPr>
              <a:t>Transformer model</a:t>
            </a:r>
            <a:endParaRPr lang="en-US" dirty="0">
              <a:solidFill>
                <a:srgbClr val="2F85A2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2B4556B-0E29-41F1-2D24-D17F8BD4E155}"/>
              </a:ext>
            </a:extLst>
          </p:cNvPr>
          <p:cNvSpPr/>
          <p:nvPr/>
        </p:nvSpPr>
        <p:spPr>
          <a:xfrm>
            <a:off x="622091" y="2585811"/>
            <a:ext cx="2233534" cy="989351"/>
          </a:xfrm>
          <a:prstGeom prst="roundRect">
            <a:avLst/>
          </a:prstGeom>
          <a:pattFill prst="pct25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7030A0"/>
                </a:solidFill>
              </a:rPr>
              <a:t>Input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6D0335B-CA25-CB16-128D-F33D40BDCA5A}"/>
              </a:ext>
            </a:extLst>
          </p:cNvPr>
          <p:cNvSpPr/>
          <p:nvPr/>
        </p:nvSpPr>
        <p:spPr>
          <a:xfrm>
            <a:off x="9336375" y="2585811"/>
            <a:ext cx="2233534" cy="989351"/>
          </a:xfrm>
          <a:prstGeom prst="roundRect">
            <a:avLst/>
          </a:prstGeom>
          <a:pattFill prst="pct4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7030A0"/>
                </a:solidFill>
              </a:rPr>
              <a:t>Output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F4EFADB-DB0E-3583-B246-319AD96B93C9}"/>
              </a:ext>
            </a:extLst>
          </p:cNvPr>
          <p:cNvSpPr/>
          <p:nvPr/>
        </p:nvSpPr>
        <p:spPr>
          <a:xfrm>
            <a:off x="3640667" y="1792096"/>
            <a:ext cx="4859866" cy="2576782"/>
          </a:xfrm>
          <a:prstGeom prst="round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b="1" dirty="0">
              <a:solidFill>
                <a:schemeClr val="accent2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A0AA6FB-3495-44C2-4A79-7E16F3FB31F3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2855625" y="3080487"/>
            <a:ext cx="785042" cy="0"/>
          </a:xfrm>
          <a:prstGeom prst="straightConnector1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D49CC3C-E4FF-B7D7-99CA-6BAF8A666373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8500533" y="3080486"/>
            <a:ext cx="835842" cy="1"/>
          </a:xfrm>
          <a:prstGeom prst="straightConnector1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2456FDE-292B-7939-3DBE-A8E3F1D86E9C}"/>
              </a:ext>
            </a:extLst>
          </p:cNvPr>
          <p:cNvSpPr/>
          <p:nvPr/>
        </p:nvSpPr>
        <p:spPr>
          <a:xfrm>
            <a:off x="4064001" y="2409120"/>
            <a:ext cx="1777999" cy="1342732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Encoder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DFE3E85-688F-B087-7AA1-CFFE4C88D195}"/>
              </a:ext>
            </a:extLst>
          </p:cNvPr>
          <p:cNvSpPr/>
          <p:nvPr/>
        </p:nvSpPr>
        <p:spPr>
          <a:xfrm>
            <a:off x="6366932" y="2409119"/>
            <a:ext cx="1777999" cy="1342733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Decoder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2AA93A0-654C-08D0-5F68-58800E14BB87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>
            <a:off x="5842000" y="3080486"/>
            <a:ext cx="524932" cy="0"/>
          </a:xfrm>
          <a:prstGeom prst="straightConnector1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E9AFDAE-0A2E-53D9-CB11-CFAA557E3438}"/>
              </a:ext>
            </a:extLst>
          </p:cNvPr>
          <p:cNvSpPr txBox="1"/>
          <p:nvPr/>
        </p:nvSpPr>
        <p:spPr>
          <a:xfrm>
            <a:off x="3048000" y="195519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accent6"/>
                </a:solidFill>
              </a:rPr>
              <a:t>The Transformer </a:t>
            </a:r>
          </a:p>
        </p:txBody>
      </p:sp>
      <p:pic>
        <p:nvPicPr>
          <p:cNvPr id="17" name="Graphic 16" descr="Fire with solid fill">
            <a:extLst>
              <a:ext uri="{FF2B5EF4-FFF2-40B4-BE49-F238E27FC236}">
                <a16:creationId xmlns:a16="http://schemas.microsoft.com/office/drawing/2014/main" id="{1CDAC070-7717-CC4E-5C12-639E68C810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63556" y="1866393"/>
            <a:ext cx="458129" cy="458129"/>
          </a:xfrm>
          <a:prstGeom prst="rect">
            <a:avLst/>
          </a:prstGeom>
        </p:spPr>
      </p:pic>
      <p:pic>
        <p:nvPicPr>
          <p:cNvPr id="18" name="Picture 17" descr="A close-up of a computer&#10;&#10;AI-generated content may be incorrect.">
            <a:extLst>
              <a:ext uri="{FF2B5EF4-FFF2-40B4-BE49-F238E27FC236}">
                <a16:creationId xmlns:a16="http://schemas.microsoft.com/office/drawing/2014/main" id="{78CB1C1A-C72D-A04B-0C80-977EA1677E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5396" y="4682341"/>
            <a:ext cx="6340979" cy="206951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245B07B-A25B-6B0C-D13A-97DCA63C9F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231" y="3465863"/>
            <a:ext cx="857490" cy="55088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2DA3109-90A8-545D-C99B-388F67C460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1491" y="3465862"/>
            <a:ext cx="717906" cy="55088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78223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50742-8936-8705-8532-FF31B0424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2F85A2"/>
                </a:solidFill>
              </a:rPr>
              <a:t>Encoder-only Transformers for Dense Embeddings</a:t>
            </a:r>
            <a:endParaRPr lang="en-US" dirty="0">
              <a:solidFill>
                <a:srgbClr val="2F85A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2F99A-C994-1FF2-C64C-8E1023631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554" y="2614315"/>
            <a:ext cx="8761412" cy="3416300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4B6889"/>
                </a:solidFill>
              </a:rPr>
              <a:t>Examples: BERT, </a:t>
            </a:r>
            <a:r>
              <a:rPr lang="en-US" sz="1800" dirty="0" err="1">
                <a:solidFill>
                  <a:srgbClr val="4B6889"/>
                </a:solidFill>
              </a:rPr>
              <a:t>RoBERTa</a:t>
            </a:r>
            <a:endParaRPr lang="en-US" sz="1800" dirty="0">
              <a:solidFill>
                <a:srgbClr val="4B6889"/>
              </a:solidFill>
            </a:endParaRPr>
          </a:p>
          <a:p>
            <a:r>
              <a:rPr lang="en-US" sz="1800" dirty="0">
                <a:solidFill>
                  <a:srgbClr val="4B6889"/>
                </a:solidFill>
              </a:rPr>
              <a:t>Only encoder part is used to generate embeddings</a:t>
            </a:r>
          </a:p>
          <a:p>
            <a:r>
              <a:rPr lang="en-US" sz="1800" dirty="0">
                <a:solidFill>
                  <a:srgbClr val="4B6889"/>
                </a:solidFill>
              </a:rPr>
              <a:t>Outputs fixed-size dense vectors for input texts</a:t>
            </a:r>
          </a:p>
          <a:p>
            <a:r>
              <a:rPr lang="en-US" sz="1800" dirty="0">
                <a:solidFill>
                  <a:srgbClr val="4B6889"/>
                </a:solidFill>
              </a:rPr>
              <a:t>Ideal for downstream similarity tasks</a:t>
            </a:r>
          </a:p>
          <a:p>
            <a:r>
              <a:rPr lang="en-US" sz="1800" b="1" dirty="0">
                <a:solidFill>
                  <a:srgbClr val="4B6889"/>
                </a:solidFill>
              </a:rPr>
              <a:t>Example</a:t>
            </a:r>
            <a:r>
              <a:rPr lang="en-US" sz="1800" dirty="0">
                <a:solidFill>
                  <a:srgbClr val="4B6889"/>
                </a:solidFill>
              </a:rPr>
              <a:t>: </a:t>
            </a:r>
          </a:p>
          <a:p>
            <a:endParaRPr lang="en-US" sz="1800" dirty="0">
              <a:solidFill>
                <a:srgbClr val="4B6889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D65618B-5D7D-F72B-8344-A3C676A6529A}"/>
              </a:ext>
            </a:extLst>
          </p:cNvPr>
          <p:cNvSpPr/>
          <p:nvPr/>
        </p:nvSpPr>
        <p:spPr>
          <a:xfrm>
            <a:off x="6003444" y="4259867"/>
            <a:ext cx="1663908" cy="7082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Encoder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65D863-67AB-9DB4-27A9-DBC1BEDE89C6}"/>
              </a:ext>
            </a:extLst>
          </p:cNvPr>
          <p:cNvSpPr txBox="1"/>
          <p:nvPr/>
        </p:nvSpPr>
        <p:spPr>
          <a:xfrm>
            <a:off x="5459341" y="5372981"/>
            <a:ext cx="275211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Transformers are amazing for NLP tasks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38E06F6-3E84-F87C-BC74-0CFA5782E559}"/>
              </a:ext>
            </a:extLst>
          </p:cNvPr>
          <p:cNvCxnSpPr>
            <a:stCxn id="7" idx="0"/>
            <a:endCxn id="6" idx="2"/>
          </p:cNvCxnSpPr>
          <p:nvPr/>
        </p:nvCxnSpPr>
        <p:spPr>
          <a:xfrm flipV="1">
            <a:off x="6835398" y="4968152"/>
            <a:ext cx="0" cy="404829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29BC46B-2B20-6E29-4F82-619F6BD4AB7A}"/>
              </a:ext>
            </a:extLst>
          </p:cNvPr>
          <p:cNvSpPr/>
          <p:nvPr/>
        </p:nvSpPr>
        <p:spPr>
          <a:xfrm>
            <a:off x="8487222" y="3557189"/>
            <a:ext cx="203556" cy="22741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22C431-8D61-2378-0DEC-57765DF9556C}"/>
              </a:ext>
            </a:extLst>
          </p:cNvPr>
          <p:cNvSpPr/>
          <p:nvPr/>
        </p:nvSpPr>
        <p:spPr>
          <a:xfrm>
            <a:off x="8732482" y="3557192"/>
            <a:ext cx="221032" cy="22740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67A908-4A78-B5B8-50D8-0DF86DB0E30C}"/>
              </a:ext>
            </a:extLst>
          </p:cNvPr>
          <p:cNvSpPr/>
          <p:nvPr/>
        </p:nvSpPr>
        <p:spPr>
          <a:xfrm>
            <a:off x="9003413" y="3557195"/>
            <a:ext cx="221032" cy="22740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7448F5-CF2B-88C2-EC93-2D674CE3BDE5}"/>
              </a:ext>
            </a:extLst>
          </p:cNvPr>
          <p:cNvSpPr/>
          <p:nvPr/>
        </p:nvSpPr>
        <p:spPr>
          <a:xfrm>
            <a:off x="8487225" y="3980524"/>
            <a:ext cx="203556" cy="22741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94537BD-1786-D72A-0E07-3C593D42BEE5}"/>
              </a:ext>
            </a:extLst>
          </p:cNvPr>
          <p:cNvSpPr/>
          <p:nvPr/>
        </p:nvSpPr>
        <p:spPr>
          <a:xfrm>
            <a:off x="8732485" y="3980527"/>
            <a:ext cx="221032" cy="22740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ACA4D8-9474-A5CB-2739-7D4F6BC5C934}"/>
              </a:ext>
            </a:extLst>
          </p:cNvPr>
          <p:cNvSpPr/>
          <p:nvPr/>
        </p:nvSpPr>
        <p:spPr>
          <a:xfrm>
            <a:off x="9003416" y="3980530"/>
            <a:ext cx="221032" cy="22740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232EB1-C2F0-3676-0C2A-2D4B4E19E540}"/>
              </a:ext>
            </a:extLst>
          </p:cNvPr>
          <p:cNvSpPr/>
          <p:nvPr/>
        </p:nvSpPr>
        <p:spPr>
          <a:xfrm>
            <a:off x="8487227" y="4403854"/>
            <a:ext cx="203556" cy="22741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BBDC1D-08C6-582C-85D0-7125ED6CE9D5}"/>
              </a:ext>
            </a:extLst>
          </p:cNvPr>
          <p:cNvSpPr/>
          <p:nvPr/>
        </p:nvSpPr>
        <p:spPr>
          <a:xfrm>
            <a:off x="8732487" y="4403857"/>
            <a:ext cx="221032" cy="22740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F37579A-3EAD-F74A-0B30-D25DAF1B8FDD}"/>
              </a:ext>
            </a:extLst>
          </p:cNvPr>
          <p:cNvSpPr/>
          <p:nvPr/>
        </p:nvSpPr>
        <p:spPr>
          <a:xfrm>
            <a:off x="9003418" y="4403860"/>
            <a:ext cx="221032" cy="22740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CA7F484-6FA0-416E-56A5-6BCD94E59802}"/>
              </a:ext>
            </a:extLst>
          </p:cNvPr>
          <p:cNvSpPr/>
          <p:nvPr/>
        </p:nvSpPr>
        <p:spPr>
          <a:xfrm>
            <a:off x="8504162" y="4827187"/>
            <a:ext cx="203556" cy="22741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519F241-D880-F0FE-27C7-4F1832375F92}"/>
              </a:ext>
            </a:extLst>
          </p:cNvPr>
          <p:cNvSpPr/>
          <p:nvPr/>
        </p:nvSpPr>
        <p:spPr>
          <a:xfrm>
            <a:off x="8749422" y="4827190"/>
            <a:ext cx="221032" cy="22740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2E645B-189F-8BCC-1869-09C02531353D}"/>
              </a:ext>
            </a:extLst>
          </p:cNvPr>
          <p:cNvSpPr/>
          <p:nvPr/>
        </p:nvSpPr>
        <p:spPr>
          <a:xfrm>
            <a:off x="9020353" y="4827193"/>
            <a:ext cx="221032" cy="22740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CE28AC-3A64-4415-D112-F9DA2440DB9C}"/>
              </a:ext>
            </a:extLst>
          </p:cNvPr>
          <p:cNvSpPr txBox="1"/>
          <p:nvPr/>
        </p:nvSpPr>
        <p:spPr>
          <a:xfrm>
            <a:off x="8465284" y="3758131"/>
            <a:ext cx="863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Transformers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83D950-8F2D-C41B-75D8-52C25ACDFEF2}"/>
              </a:ext>
            </a:extLst>
          </p:cNvPr>
          <p:cNvSpPr/>
          <p:nvPr/>
        </p:nvSpPr>
        <p:spPr>
          <a:xfrm>
            <a:off x="8504165" y="5233584"/>
            <a:ext cx="203556" cy="22741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80B4D7B-55BB-AFFD-771B-FE6C77B18C67}"/>
              </a:ext>
            </a:extLst>
          </p:cNvPr>
          <p:cNvSpPr/>
          <p:nvPr/>
        </p:nvSpPr>
        <p:spPr>
          <a:xfrm>
            <a:off x="8749425" y="5233587"/>
            <a:ext cx="221032" cy="22740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734F9C7-D402-69BC-9700-97FF1CD17C30}"/>
              </a:ext>
            </a:extLst>
          </p:cNvPr>
          <p:cNvSpPr/>
          <p:nvPr/>
        </p:nvSpPr>
        <p:spPr>
          <a:xfrm>
            <a:off x="9020356" y="5233590"/>
            <a:ext cx="221032" cy="22740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043B1F0-9876-CE26-1217-B910D6C27412}"/>
              </a:ext>
            </a:extLst>
          </p:cNvPr>
          <p:cNvSpPr txBox="1"/>
          <p:nvPr/>
        </p:nvSpPr>
        <p:spPr>
          <a:xfrm>
            <a:off x="8465284" y="4198170"/>
            <a:ext cx="863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are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9216CC2-B8F9-B0F1-05A0-30D2F8C27181}"/>
              </a:ext>
            </a:extLst>
          </p:cNvPr>
          <p:cNvSpPr txBox="1"/>
          <p:nvPr/>
        </p:nvSpPr>
        <p:spPr>
          <a:xfrm>
            <a:off x="8460101" y="4621505"/>
            <a:ext cx="863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amazing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B4F242F-50DE-7A93-D218-A01EC1783C50}"/>
              </a:ext>
            </a:extLst>
          </p:cNvPr>
          <p:cNvSpPr txBox="1"/>
          <p:nvPr/>
        </p:nvSpPr>
        <p:spPr>
          <a:xfrm>
            <a:off x="8460101" y="5044840"/>
            <a:ext cx="863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for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57ADC32-7304-47A1-2E64-E9F5B8450D83}"/>
              </a:ext>
            </a:extLst>
          </p:cNvPr>
          <p:cNvSpPr txBox="1"/>
          <p:nvPr/>
        </p:nvSpPr>
        <p:spPr>
          <a:xfrm>
            <a:off x="8460101" y="5449028"/>
            <a:ext cx="863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NLP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6336527-C9C3-660F-AECC-C5441C4B8626}"/>
              </a:ext>
            </a:extLst>
          </p:cNvPr>
          <p:cNvSpPr/>
          <p:nvPr/>
        </p:nvSpPr>
        <p:spPr>
          <a:xfrm>
            <a:off x="8521101" y="5656918"/>
            <a:ext cx="203556" cy="22741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9A888D-A8FE-EDC9-8A0C-271C754E08EE}"/>
              </a:ext>
            </a:extLst>
          </p:cNvPr>
          <p:cNvSpPr/>
          <p:nvPr/>
        </p:nvSpPr>
        <p:spPr>
          <a:xfrm>
            <a:off x="8766361" y="5656921"/>
            <a:ext cx="221032" cy="22740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957430B-F34B-3139-5148-CAD2401AD468}"/>
              </a:ext>
            </a:extLst>
          </p:cNvPr>
          <p:cNvSpPr/>
          <p:nvPr/>
        </p:nvSpPr>
        <p:spPr>
          <a:xfrm>
            <a:off x="9037292" y="5656924"/>
            <a:ext cx="221032" cy="22740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EBC11FB-A04C-4335-2FFC-F9972840A2E6}"/>
              </a:ext>
            </a:extLst>
          </p:cNvPr>
          <p:cNvCxnSpPr>
            <a:cxnSpLocks/>
          </p:cNvCxnSpPr>
          <p:nvPr/>
        </p:nvCxnSpPr>
        <p:spPr>
          <a:xfrm flipV="1">
            <a:off x="7667352" y="4621505"/>
            <a:ext cx="584250" cy="976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1" name="Right Brace 40">
            <a:extLst>
              <a:ext uri="{FF2B5EF4-FFF2-40B4-BE49-F238E27FC236}">
                <a16:creationId xmlns:a16="http://schemas.microsoft.com/office/drawing/2014/main" id="{3BD25AF8-257D-F892-FAD7-0AD2EC92ED6D}"/>
              </a:ext>
            </a:extLst>
          </p:cNvPr>
          <p:cNvSpPr/>
          <p:nvPr/>
        </p:nvSpPr>
        <p:spPr>
          <a:xfrm>
            <a:off x="9258324" y="3394826"/>
            <a:ext cx="394948" cy="2668801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0812B91-BCDD-A20C-D635-DA3EECEBEFCF}"/>
              </a:ext>
            </a:extLst>
          </p:cNvPr>
          <p:cNvSpPr txBox="1"/>
          <p:nvPr/>
        </p:nvSpPr>
        <p:spPr>
          <a:xfrm>
            <a:off x="9713228" y="4476406"/>
            <a:ext cx="80644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3">
                    <a:lumMod val="75000"/>
                  </a:schemeClr>
                </a:solidFill>
              </a:rPr>
              <a:t>Fixed-size dense vectors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3335222-5CFD-25FA-D013-EBE8AC18446A}"/>
              </a:ext>
            </a:extLst>
          </p:cNvPr>
          <p:cNvSpPr txBox="1"/>
          <p:nvPr/>
        </p:nvSpPr>
        <p:spPr>
          <a:xfrm>
            <a:off x="6432176" y="5587345"/>
            <a:ext cx="8064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B050"/>
                </a:solidFill>
              </a:rPr>
              <a:t>Input Text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398FEEF-0072-9692-EDC8-F57319AE9171}"/>
              </a:ext>
            </a:extLst>
          </p:cNvPr>
          <p:cNvSpPr txBox="1"/>
          <p:nvPr/>
        </p:nvSpPr>
        <p:spPr>
          <a:xfrm>
            <a:off x="8474910" y="5904664"/>
            <a:ext cx="863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679696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numbers&#10;&#10;AI-generated content may be incorrect.">
            <a:extLst>
              <a:ext uri="{FF2B5EF4-FFF2-40B4-BE49-F238E27FC236}">
                <a16:creationId xmlns:a16="http://schemas.microsoft.com/office/drawing/2014/main" id="{B32F410D-E9C2-8805-F79D-12CA45E1E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50" y="2477559"/>
            <a:ext cx="11502509" cy="260244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4D32D08-295E-84C7-2B9A-332A28FF1235}"/>
              </a:ext>
            </a:extLst>
          </p:cNvPr>
          <p:cNvSpPr txBox="1">
            <a:spLocks/>
          </p:cNvSpPr>
          <p:nvPr/>
        </p:nvSpPr>
        <p:spPr>
          <a:xfrm>
            <a:off x="1154953" y="973668"/>
            <a:ext cx="8761413" cy="706964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>
                <a:solidFill>
                  <a:srgbClr val="2F85A2"/>
                </a:solidFill>
              </a:rPr>
              <a:t>Word Embeddings example</a:t>
            </a:r>
            <a:endParaRPr lang="en-US" dirty="0">
              <a:solidFill>
                <a:srgbClr val="2F85A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2448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E2CE8-1CAC-7A6D-B1D7-880608012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2F85A2"/>
                </a:solidFill>
              </a:rPr>
              <a:t>Sentence Embeddings over Word Embeddings</a:t>
            </a:r>
            <a:endParaRPr lang="en-US" dirty="0">
              <a:solidFill>
                <a:srgbClr val="2F85A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E72C5-6AAE-1F98-A28C-228B4960E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518" y="2321851"/>
            <a:ext cx="8915401" cy="3653896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4B6889"/>
                </a:solidFill>
              </a:rPr>
              <a:t>Sentence-BERT (SBERT) uses BERT architecture to create semantically meaningful sentence embeddings</a:t>
            </a:r>
          </a:p>
          <a:p>
            <a:r>
              <a:rPr lang="en-US" sz="1800" dirty="0">
                <a:solidFill>
                  <a:srgbClr val="4B6889"/>
                </a:solidFill>
              </a:rPr>
              <a:t>Use pooling (e.g., CLS token, mean pooling) over encoder outputs</a:t>
            </a:r>
          </a:p>
          <a:p>
            <a:r>
              <a:rPr lang="en-US" sz="1800" b="1" dirty="0">
                <a:solidFill>
                  <a:srgbClr val="4B6889"/>
                </a:solidFill>
              </a:rPr>
              <a:t>Example</a:t>
            </a:r>
            <a:r>
              <a:rPr lang="en-US" sz="1800" dirty="0">
                <a:solidFill>
                  <a:srgbClr val="4B6889"/>
                </a:solidFill>
              </a:rPr>
              <a:t>: </a:t>
            </a:r>
          </a:p>
          <a:p>
            <a:pPr marL="0" indent="0">
              <a:buNone/>
            </a:pPr>
            <a:r>
              <a:rPr lang="en-US" dirty="0">
                <a:solidFill>
                  <a:srgbClr val="4B6889"/>
                </a:solidFill>
              </a:rPr>
              <a:t>	</a:t>
            </a:r>
            <a:r>
              <a:rPr lang="en-US" sz="1800" dirty="0">
                <a:solidFill>
                  <a:srgbClr val="4B6889"/>
                </a:solidFill>
              </a:rPr>
              <a:t>Compare </a:t>
            </a:r>
          </a:p>
          <a:p>
            <a:pPr marL="0" indent="0">
              <a:buNone/>
            </a:pPr>
            <a:r>
              <a:rPr lang="en-US" dirty="0">
                <a:solidFill>
                  <a:srgbClr val="4B6889"/>
                </a:solidFill>
              </a:rPr>
              <a:t>		</a:t>
            </a:r>
            <a:r>
              <a:rPr lang="en-US" sz="1800" dirty="0">
                <a:solidFill>
                  <a:srgbClr val="4B6889"/>
                </a:solidFill>
              </a:rPr>
              <a:t>"Apple is a fruit"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4B6889"/>
                </a:solidFill>
              </a:rPr>
              <a:t>			vs.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4B6889"/>
                </a:solidFill>
              </a:rPr>
              <a:t> 		"Apple is a tech company”</a:t>
            </a:r>
          </a:p>
          <a:p>
            <a:pPr marL="0" indent="0">
              <a:buNone/>
            </a:pPr>
            <a:r>
              <a:rPr lang="en-US" dirty="0">
                <a:solidFill>
                  <a:srgbClr val="4B6889"/>
                </a:solidFill>
              </a:rPr>
              <a:t>		</a:t>
            </a:r>
          </a:p>
          <a:p>
            <a:pPr marL="0" indent="0">
              <a:buNone/>
            </a:pPr>
            <a:endParaRPr lang="en-US" sz="1800" dirty="0">
              <a:solidFill>
                <a:srgbClr val="4B6889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65E9CDE-3836-D171-2379-829A703C8317}"/>
              </a:ext>
            </a:extLst>
          </p:cNvPr>
          <p:cNvSpPr/>
          <p:nvPr/>
        </p:nvSpPr>
        <p:spPr>
          <a:xfrm>
            <a:off x="6446498" y="4137999"/>
            <a:ext cx="1663908" cy="7082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Encoder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45A08B-B9AD-B334-2E4D-9B9A91E6525D}"/>
              </a:ext>
            </a:extLst>
          </p:cNvPr>
          <p:cNvSpPr txBox="1"/>
          <p:nvPr/>
        </p:nvSpPr>
        <p:spPr>
          <a:xfrm>
            <a:off x="5902395" y="5251113"/>
            <a:ext cx="275211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Transformers are amazing for NLP tasks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4D9A560-CAAD-AE5C-9AE5-DE9996E47E28}"/>
              </a:ext>
            </a:extLst>
          </p:cNvPr>
          <p:cNvCxnSpPr>
            <a:stCxn id="16" idx="0"/>
            <a:endCxn id="15" idx="2"/>
          </p:cNvCxnSpPr>
          <p:nvPr/>
        </p:nvCxnSpPr>
        <p:spPr>
          <a:xfrm flipV="1">
            <a:off x="7278452" y="4846284"/>
            <a:ext cx="0" cy="404829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A32B941F-1B78-7910-9DBA-5D9CD6B5C4EC}"/>
              </a:ext>
            </a:extLst>
          </p:cNvPr>
          <p:cNvSpPr/>
          <p:nvPr/>
        </p:nvSpPr>
        <p:spPr>
          <a:xfrm>
            <a:off x="8930276" y="3435321"/>
            <a:ext cx="203556" cy="22741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781CC30-2A81-B552-F75B-92D9599AAB18}"/>
              </a:ext>
            </a:extLst>
          </p:cNvPr>
          <p:cNvSpPr/>
          <p:nvPr/>
        </p:nvSpPr>
        <p:spPr>
          <a:xfrm>
            <a:off x="9175536" y="3435324"/>
            <a:ext cx="221032" cy="22740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903A830-5D00-CCCC-CF7D-12E8D535E7DC}"/>
              </a:ext>
            </a:extLst>
          </p:cNvPr>
          <p:cNvSpPr/>
          <p:nvPr/>
        </p:nvSpPr>
        <p:spPr>
          <a:xfrm>
            <a:off x="9446467" y="3435327"/>
            <a:ext cx="221032" cy="22740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E6D2634-CD9F-AE21-A6A4-A5EED1645787}"/>
              </a:ext>
            </a:extLst>
          </p:cNvPr>
          <p:cNvSpPr/>
          <p:nvPr/>
        </p:nvSpPr>
        <p:spPr>
          <a:xfrm>
            <a:off x="8930279" y="3858656"/>
            <a:ext cx="203556" cy="22741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93A13CC-D4E0-A210-A0E4-7C10032BF673}"/>
              </a:ext>
            </a:extLst>
          </p:cNvPr>
          <p:cNvSpPr/>
          <p:nvPr/>
        </p:nvSpPr>
        <p:spPr>
          <a:xfrm>
            <a:off x="9175539" y="3858659"/>
            <a:ext cx="221032" cy="22740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25A80F-5369-8B94-1373-68C3E4E8F293}"/>
              </a:ext>
            </a:extLst>
          </p:cNvPr>
          <p:cNvSpPr/>
          <p:nvPr/>
        </p:nvSpPr>
        <p:spPr>
          <a:xfrm>
            <a:off x="9446470" y="3858662"/>
            <a:ext cx="221032" cy="22740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C071561-8BA5-901B-EB3C-E5805250F982}"/>
              </a:ext>
            </a:extLst>
          </p:cNvPr>
          <p:cNvSpPr/>
          <p:nvPr/>
        </p:nvSpPr>
        <p:spPr>
          <a:xfrm>
            <a:off x="8930281" y="4281986"/>
            <a:ext cx="203556" cy="22741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08EFD7F-C78D-0E7A-6192-CD5886219A82}"/>
              </a:ext>
            </a:extLst>
          </p:cNvPr>
          <p:cNvSpPr/>
          <p:nvPr/>
        </p:nvSpPr>
        <p:spPr>
          <a:xfrm>
            <a:off x="9175541" y="4281989"/>
            <a:ext cx="221032" cy="22740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7A752BA-1B5F-29B0-AEF6-39550245CE4C}"/>
              </a:ext>
            </a:extLst>
          </p:cNvPr>
          <p:cNvSpPr/>
          <p:nvPr/>
        </p:nvSpPr>
        <p:spPr>
          <a:xfrm>
            <a:off x="9446472" y="4281992"/>
            <a:ext cx="221032" cy="22740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5986507-95F9-F828-EC53-B45D6B0A99A6}"/>
              </a:ext>
            </a:extLst>
          </p:cNvPr>
          <p:cNvSpPr/>
          <p:nvPr/>
        </p:nvSpPr>
        <p:spPr>
          <a:xfrm>
            <a:off x="8947216" y="4705319"/>
            <a:ext cx="203556" cy="22741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C24CEF7-C889-9D20-9B22-DC3A3A863D46}"/>
              </a:ext>
            </a:extLst>
          </p:cNvPr>
          <p:cNvSpPr/>
          <p:nvPr/>
        </p:nvSpPr>
        <p:spPr>
          <a:xfrm>
            <a:off x="9192476" y="4705322"/>
            <a:ext cx="221032" cy="22740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25DC58B-7AFB-95CD-2BA2-3B70CE864900}"/>
              </a:ext>
            </a:extLst>
          </p:cNvPr>
          <p:cNvSpPr/>
          <p:nvPr/>
        </p:nvSpPr>
        <p:spPr>
          <a:xfrm>
            <a:off x="9463407" y="4705325"/>
            <a:ext cx="221032" cy="22740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7852175-B89A-CF17-8C49-F16B723A4F31}"/>
              </a:ext>
            </a:extLst>
          </p:cNvPr>
          <p:cNvSpPr txBox="1"/>
          <p:nvPr/>
        </p:nvSpPr>
        <p:spPr>
          <a:xfrm>
            <a:off x="8908338" y="3636263"/>
            <a:ext cx="863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Transformers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0B7B1F5-484E-990A-C142-042B9F114107}"/>
              </a:ext>
            </a:extLst>
          </p:cNvPr>
          <p:cNvSpPr/>
          <p:nvPr/>
        </p:nvSpPr>
        <p:spPr>
          <a:xfrm>
            <a:off x="8947219" y="5111716"/>
            <a:ext cx="203556" cy="22741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372471D-75DD-C291-1629-BE5B0AEE9843}"/>
              </a:ext>
            </a:extLst>
          </p:cNvPr>
          <p:cNvSpPr/>
          <p:nvPr/>
        </p:nvSpPr>
        <p:spPr>
          <a:xfrm>
            <a:off x="9192479" y="5111719"/>
            <a:ext cx="221032" cy="22740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C37F367-0806-F795-660C-C5E8127EA193}"/>
              </a:ext>
            </a:extLst>
          </p:cNvPr>
          <p:cNvSpPr/>
          <p:nvPr/>
        </p:nvSpPr>
        <p:spPr>
          <a:xfrm>
            <a:off x="9463410" y="5111722"/>
            <a:ext cx="221032" cy="22740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F595F41-7707-CE2D-52A3-3385F17D1042}"/>
              </a:ext>
            </a:extLst>
          </p:cNvPr>
          <p:cNvSpPr txBox="1"/>
          <p:nvPr/>
        </p:nvSpPr>
        <p:spPr>
          <a:xfrm>
            <a:off x="8908338" y="4076302"/>
            <a:ext cx="863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are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FF7D781-549F-E672-D76B-60ECEA94A8D1}"/>
              </a:ext>
            </a:extLst>
          </p:cNvPr>
          <p:cNvSpPr txBox="1"/>
          <p:nvPr/>
        </p:nvSpPr>
        <p:spPr>
          <a:xfrm>
            <a:off x="8903155" y="4499637"/>
            <a:ext cx="863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amazing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E72F198-9545-741C-C5ED-EC360B19EBCE}"/>
              </a:ext>
            </a:extLst>
          </p:cNvPr>
          <p:cNvSpPr txBox="1"/>
          <p:nvPr/>
        </p:nvSpPr>
        <p:spPr>
          <a:xfrm>
            <a:off x="8903155" y="4922972"/>
            <a:ext cx="863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for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F012388-D654-3E2E-DF3A-DECE66B74A8B}"/>
              </a:ext>
            </a:extLst>
          </p:cNvPr>
          <p:cNvSpPr txBox="1"/>
          <p:nvPr/>
        </p:nvSpPr>
        <p:spPr>
          <a:xfrm>
            <a:off x="8903155" y="5327160"/>
            <a:ext cx="863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NLP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0ADD3E4-0F5B-3339-4F87-295F75BC6201}"/>
              </a:ext>
            </a:extLst>
          </p:cNvPr>
          <p:cNvSpPr/>
          <p:nvPr/>
        </p:nvSpPr>
        <p:spPr>
          <a:xfrm>
            <a:off x="8930289" y="5535050"/>
            <a:ext cx="203556" cy="22741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F0955B6-0B0A-B875-9156-60919B726F95}"/>
              </a:ext>
            </a:extLst>
          </p:cNvPr>
          <p:cNvSpPr/>
          <p:nvPr/>
        </p:nvSpPr>
        <p:spPr>
          <a:xfrm>
            <a:off x="9175549" y="5535053"/>
            <a:ext cx="221032" cy="22740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05593DE-F871-E796-2051-440596272873}"/>
              </a:ext>
            </a:extLst>
          </p:cNvPr>
          <p:cNvSpPr/>
          <p:nvPr/>
        </p:nvSpPr>
        <p:spPr>
          <a:xfrm>
            <a:off x="9446480" y="5535056"/>
            <a:ext cx="221032" cy="22740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063589F-DBCF-A32F-C885-FDFDEBA481D4}"/>
              </a:ext>
            </a:extLst>
          </p:cNvPr>
          <p:cNvSpPr txBox="1"/>
          <p:nvPr/>
        </p:nvSpPr>
        <p:spPr>
          <a:xfrm>
            <a:off x="8920091" y="5750494"/>
            <a:ext cx="8636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/>
              <a:t>tasks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9BF9DD1-9BE3-8C42-C866-C31A36147D64}"/>
              </a:ext>
            </a:extLst>
          </p:cNvPr>
          <p:cNvCxnSpPr>
            <a:cxnSpLocks/>
          </p:cNvCxnSpPr>
          <p:nvPr/>
        </p:nvCxnSpPr>
        <p:spPr>
          <a:xfrm flipV="1">
            <a:off x="8110406" y="4499637"/>
            <a:ext cx="584250" cy="976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781C4D79-5874-7656-2B76-EFE378E88D46}"/>
              </a:ext>
            </a:extLst>
          </p:cNvPr>
          <p:cNvSpPr txBox="1"/>
          <p:nvPr/>
        </p:nvSpPr>
        <p:spPr>
          <a:xfrm>
            <a:off x="6875230" y="5465477"/>
            <a:ext cx="8064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B050"/>
                </a:solidFill>
              </a:rPr>
              <a:t>Input Text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C6B794C-B826-879C-7D0E-1297D711AC9E}"/>
              </a:ext>
            </a:extLst>
          </p:cNvPr>
          <p:cNvCxnSpPr>
            <a:cxnSpLocks/>
          </p:cNvCxnSpPr>
          <p:nvPr/>
        </p:nvCxnSpPr>
        <p:spPr>
          <a:xfrm flipV="1">
            <a:off x="9782484" y="4482381"/>
            <a:ext cx="584250" cy="9760"/>
          </a:xfrm>
          <a:prstGeom prst="straightConnector1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9231AC7E-9666-6E00-DE15-37DED6E044C4}"/>
              </a:ext>
            </a:extLst>
          </p:cNvPr>
          <p:cNvSpPr/>
          <p:nvPr/>
        </p:nvSpPr>
        <p:spPr>
          <a:xfrm>
            <a:off x="10698914" y="3701319"/>
            <a:ext cx="203556" cy="22741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3008AAD-27EA-1EA7-5F33-111CFB08CA20}"/>
              </a:ext>
            </a:extLst>
          </p:cNvPr>
          <p:cNvSpPr/>
          <p:nvPr/>
        </p:nvSpPr>
        <p:spPr>
          <a:xfrm>
            <a:off x="10698917" y="3972257"/>
            <a:ext cx="203556" cy="22741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18A282F-2014-7983-8E33-DB76898DB3D8}"/>
              </a:ext>
            </a:extLst>
          </p:cNvPr>
          <p:cNvSpPr/>
          <p:nvPr/>
        </p:nvSpPr>
        <p:spPr>
          <a:xfrm>
            <a:off x="10698919" y="4243190"/>
            <a:ext cx="203556" cy="22741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02ACB96-5A53-CC0F-A9FC-4A2B13A05BDF}"/>
              </a:ext>
            </a:extLst>
          </p:cNvPr>
          <p:cNvSpPr/>
          <p:nvPr/>
        </p:nvSpPr>
        <p:spPr>
          <a:xfrm>
            <a:off x="10698921" y="4514126"/>
            <a:ext cx="203556" cy="22741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C29ED03-5F30-F0CA-C702-8A779251CDD4}"/>
              </a:ext>
            </a:extLst>
          </p:cNvPr>
          <p:cNvSpPr/>
          <p:nvPr/>
        </p:nvSpPr>
        <p:spPr>
          <a:xfrm>
            <a:off x="10698924" y="4801992"/>
            <a:ext cx="203556" cy="22741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43DEBD6-2293-2243-A504-4026229F26DF}"/>
              </a:ext>
            </a:extLst>
          </p:cNvPr>
          <p:cNvSpPr/>
          <p:nvPr/>
        </p:nvSpPr>
        <p:spPr>
          <a:xfrm>
            <a:off x="10698927" y="5072922"/>
            <a:ext cx="203556" cy="22741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2F208F2-9CC2-FF23-AE1A-4828AF4110E8}"/>
              </a:ext>
            </a:extLst>
          </p:cNvPr>
          <p:cNvSpPr/>
          <p:nvPr/>
        </p:nvSpPr>
        <p:spPr>
          <a:xfrm>
            <a:off x="10631182" y="3636263"/>
            <a:ext cx="331278" cy="1702864"/>
          </a:xfrm>
          <a:prstGeom prst="rect">
            <a:avLst/>
          </a:prstGeom>
          <a:noFill/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62D19C2-F13C-DF04-43CD-E493635E6FEB}"/>
              </a:ext>
            </a:extLst>
          </p:cNvPr>
          <p:cNvSpPr txBox="1"/>
          <p:nvPr/>
        </p:nvSpPr>
        <p:spPr>
          <a:xfrm>
            <a:off x="10414608" y="5441006"/>
            <a:ext cx="97572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Sentence Embedding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A17DBB3-CDEA-3C81-1282-BBC15D41227D}"/>
              </a:ext>
            </a:extLst>
          </p:cNvPr>
          <p:cNvSpPr txBox="1"/>
          <p:nvPr/>
        </p:nvSpPr>
        <p:spPr>
          <a:xfrm>
            <a:off x="9726143" y="4527103"/>
            <a:ext cx="83273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Pooling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86ACE29-DC94-39E7-622C-88E3CEE75015}"/>
              </a:ext>
            </a:extLst>
          </p:cNvPr>
          <p:cNvSpPr txBox="1"/>
          <p:nvPr/>
        </p:nvSpPr>
        <p:spPr>
          <a:xfrm>
            <a:off x="8864029" y="6002420"/>
            <a:ext cx="114269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Word Embeddings</a:t>
            </a:r>
          </a:p>
        </p:txBody>
      </p:sp>
      <p:pic>
        <p:nvPicPr>
          <p:cNvPr id="55" name="Picture 54" descr="A close-up of a number&#10;&#10;AI-generated content may be incorrect.">
            <a:extLst>
              <a:ext uri="{FF2B5EF4-FFF2-40B4-BE49-F238E27FC236}">
                <a16:creationId xmlns:a16="http://schemas.microsoft.com/office/drawing/2014/main" id="{323984CF-E648-72FD-38E5-170E47F88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266" y="3749960"/>
            <a:ext cx="4817425" cy="155428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6" name="Picture 55" descr="A close-up of a number&#10;&#10;AI-generated content may be incorrect.">
            <a:extLst>
              <a:ext uri="{FF2B5EF4-FFF2-40B4-BE49-F238E27FC236}">
                <a16:creationId xmlns:a16="http://schemas.microsoft.com/office/drawing/2014/main" id="{7D7B6D40-7DBC-6D06-A71D-DC1BC30E0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007" y="5413363"/>
            <a:ext cx="4928684" cy="13969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04862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49A69-98FC-E0EC-3BF9-6E6743121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20E9846-E919-4AB6-897A-92445AB2A968}"/>
              </a:ext>
            </a:extLst>
          </p:cNvPr>
          <p:cNvSpPr txBox="1">
            <a:spLocks/>
          </p:cNvSpPr>
          <p:nvPr/>
        </p:nvSpPr>
        <p:spPr>
          <a:xfrm>
            <a:off x="596153" y="228601"/>
            <a:ext cx="8761413" cy="706964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>
                <a:solidFill>
                  <a:srgbClr val="2F85A2"/>
                </a:solidFill>
              </a:rPr>
              <a:t>Sentence Embeddings example</a:t>
            </a:r>
            <a:endParaRPr lang="en-US" dirty="0">
              <a:solidFill>
                <a:srgbClr val="2F85A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91ECF3-9165-5058-CD41-FF28BECBB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842" y="977898"/>
            <a:ext cx="10433425" cy="593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211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7C59BEC-C4CC-4741-B975-08C543178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72DEF309-605D-4117-9340-6D589B6C3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6173" flipV="1">
            <a:off x="3930947" y="651615"/>
            <a:ext cx="4083433" cy="408343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87C3BD-20F9-F95E-C623-F129210F1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599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2F85A2"/>
                </a:solidFill>
              </a:rPr>
              <a:t>Semantic Search with Transformers</a:t>
            </a:r>
            <a:endParaRPr lang="en-US" dirty="0">
              <a:solidFill>
                <a:srgbClr val="2F85A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2DB05-2130-906C-32AD-677A1932B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978367" cy="43513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4B6889"/>
                </a:solidFill>
              </a:rPr>
              <a:t>Encode corpus and query using the same model</a:t>
            </a:r>
          </a:p>
          <a:p>
            <a:r>
              <a:rPr lang="en-US" dirty="0">
                <a:solidFill>
                  <a:srgbClr val="4B6889"/>
                </a:solidFill>
              </a:rPr>
              <a:t>Use vector similarity (e.g., cosine) for retrieval</a:t>
            </a:r>
          </a:p>
          <a:p>
            <a:r>
              <a:rPr lang="en-US" dirty="0">
                <a:solidFill>
                  <a:srgbClr val="4B6889"/>
                </a:solidFill>
              </a:rPr>
              <a:t>Outperforms lexical search (e.g., BM25)</a:t>
            </a:r>
          </a:p>
          <a:p>
            <a:r>
              <a:rPr lang="en-US" dirty="0">
                <a:solidFill>
                  <a:srgbClr val="4B6889"/>
                </a:solidFill>
              </a:rPr>
              <a:t>Enables fuzzy matching &amp; contextual understanding</a:t>
            </a:r>
          </a:p>
          <a:p>
            <a:pPr marL="0" indent="0">
              <a:buNone/>
            </a:pPr>
            <a:endParaRPr lang="en-US" dirty="0">
              <a:solidFill>
                <a:srgbClr val="4B6889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77008" y="5228027"/>
            <a:ext cx="1107241" cy="10772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diagram of a cosine&#10;&#10;AI-generated content may be incorrect.">
            <a:extLst>
              <a:ext uri="{FF2B5EF4-FFF2-40B4-BE49-F238E27FC236}">
                <a16:creationId xmlns:a16="http://schemas.microsoft.com/office/drawing/2014/main" id="{F780FAE5-37C2-DCB1-771B-B4DA64496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402" y="4105108"/>
            <a:ext cx="6520090" cy="2526535"/>
          </a:xfrm>
          <a:custGeom>
            <a:avLst/>
            <a:gdLst/>
            <a:ahLst/>
            <a:cxnLst/>
            <a:rect l="l" t="t" r="r" b="b"/>
            <a:pathLst>
              <a:path w="4221597" h="4303912">
                <a:moveTo>
                  <a:pt x="126986" y="0"/>
                </a:moveTo>
                <a:lnTo>
                  <a:pt x="4094611" y="0"/>
                </a:lnTo>
                <a:cubicBezTo>
                  <a:pt x="4164743" y="0"/>
                  <a:pt x="4221597" y="56854"/>
                  <a:pt x="4221597" y="126986"/>
                </a:cubicBezTo>
                <a:lnTo>
                  <a:pt x="4221597" y="4176926"/>
                </a:lnTo>
                <a:cubicBezTo>
                  <a:pt x="4221597" y="4247058"/>
                  <a:pt x="4164743" y="4303912"/>
                  <a:pt x="4094611" y="4303912"/>
                </a:cubicBezTo>
                <a:lnTo>
                  <a:pt x="126986" y="4303912"/>
                </a:lnTo>
                <a:cubicBezTo>
                  <a:pt x="56854" y="4303912"/>
                  <a:pt x="0" y="4247058"/>
                  <a:pt x="0" y="4176926"/>
                </a:cubicBezTo>
                <a:lnTo>
                  <a:pt x="0" y="126986"/>
                </a:lnTo>
                <a:cubicBezTo>
                  <a:pt x="0" y="56854"/>
                  <a:pt x="56854" y="0"/>
                  <a:pt x="126986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379083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13D6DE-AECE-A3CA-AB1B-486FD74E2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5199994-21AE-49A2-BA0D-12E295989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DB17527-4BE3-1878-78A9-CEABE8C9B968}"/>
              </a:ext>
            </a:extLst>
          </p:cNvPr>
          <p:cNvSpPr txBox="1">
            <a:spLocks/>
          </p:cNvSpPr>
          <p:nvPr/>
        </p:nvSpPr>
        <p:spPr>
          <a:xfrm>
            <a:off x="6769570" y="530578"/>
            <a:ext cx="4771178" cy="11601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3700" b="1" kern="1200" dirty="0">
                <a:solidFill>
                  <a:srgbClr val="2F85A2"/>
                </a:solidFill>
                <a:latin typeface="+mj-lt"/>
                <a:ea typeface="+mj-ea"/>
                <a:cs typeface="+mj-cs"/>
              </a:rPr>
              <a:t>Semantic Search using Cosine Similarity</a:t>
            </a:r>
            <a:endParaRPr lang="en-US" sz="3700" kern="1200" dirty="0">
              <a:solidFill>
                <a:srgbClr val="2F85A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 descr="A graph of a function&#10;&#10;AI-generated content may be incorrect.">
            <a:extLst>
              <a:ext uri="{FF2B5EF4-FFF2-40B4-BE49-F238E27FC236}">
                <a16:creationId xmlns:a16="http://schemas.microsoft.com/office/drawing/2014/main" id="{AE513A79-3676-A950-A71C-4F7E74478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03" y="773952"/>
            <a:ext cx="6640067" cy="4814048"/>
          </a:xfrm>
          <a:custGeom>
            <a:avLst/>
            <a:gdLst/>
            <a:ahLst/>
            <a:cxnLst/>
            <a:rect l="l" t="t" r="r" b="b"/>
            <a:pathLst>
              <a:path w="4643496" h="5550370">
                <a:moveTo>
                  <a:pt x="81586" y="0"/>
                </a:moveTo>
                <a:lnTo>
                  <a:pt x="4561910" y="0"/>
                </a:lnTo>
                <a:cubicBezTo>
                  <a:pt x="4606969" y="0"/>
                  <a:pt x="4643496" y="36527"/>
                  <a:pt x="4643496" y="81586"/>
                </a:cubicBezTo>
                <a:lnTo>
                  <a:pt x="4643496" y="5468784"/>
                </a:lnTo>
                <a:cubicBezTo>
                  <a:pt x="4643496" y="5513843"/>
                  <a:pt x="4606969" y="5550370"/>
                  <a:pt x="4561910" y="5550370"/>
                </a:cubicBezTo>
                <a:lnTo>
                  <a:pt x="81586" y="5550370"/>
                </a:lnTo>
                <a:cubicBezTo>
                  <a:pt x="36527" y="5550370"/>
                  <a:pt x="0" y="5513843"/>
                  <a:pt x="0" y="5468784"/>
                </a:cubicBezTo>
                <a:lnTo>
                  <a:pt x="0" y="81586"/>
                </a:lnTo>
                <a:cubicBezTo>
                  <a:pt x="0" y="36527"/>
                  <a:pt x="36527" y="0"/>
                  <a:pt x="81586" y="0"/>
                </a:cubicBezTo>
                <a:close/>
              </a:path>
            </a:pathLst>
          </a:custGeom>
        </p:spPr>
      </p:pic>
      <p:sp>
        <p:nvSpPr>
          <p:cNvPr id="24" name="Arc 23">
            <a:extLst>
              <a:ext uri="{FF2B5EF4-FFF2-40B4-BE49-F238E27FC236}">
                <a16:creationId xmlns:a16="http://schemas.microsoft.com/office/drawing/2014/main" id="{A2C34835-4F79-4934-B151-D68E79764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8717845" y="3339275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E02BABC-90FF-6F10-E7B8-3AE2ACCE1792}"/>
              </a:ext>
            </a:extLst>
          </p:cNvPr>
          <p:cNvSpPr txBox="1">
            <a:spLocks/>
          </p:cNvSpPr>
          <p:nvPr/>
        </p:nvSpPr>
        <p:spPr>
          <a:xfrm>
            <a:off x="6769570" y="1825625"/>
            <a:ext cx="4771178" cy="4388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4B6889"/>
                </a:solidFill>
              </a:rPr>
              <a:t>Cosine similarity measures angle between vectors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4B6889"/>
                </a:solidFill>
              </a:rPr>
              <a:t>Effective in high-dimensional semantic space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4B6889"/>
                </a:solidFill>
              </a:rPr>
              <a:t>Used to find nearest neighbors in vector DBs</a:t>
            </a:r>
          </a:p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4B6889"/>
                </a:solidFill>
              </a:rPr>
              <a:t>Example</a:t>
            </a:r>
            <a:r>
              <a:rPr lang="en-US" sz="1500" dirty="0">
                <a:solidFill>
                  <a:srgbClr val="4B6889"/>
                </a:solidFill>
              </a:rPr>
              <a:t>: Find top 5 similar product descriptions or FAQs to a user query using cosine similarity on SBERT vectors</a:t>
            </a: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FF0000"/>
                </a:solidFill>
              </a:rPr>
              <a:t>Query: How do I reset my password?</a:t>
            </a: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3A46F1"/>
                </a:solidFill>
              </a:rPr>
              <a:t>Product FAQs</a:t>
            </a:r>
          </a:p>
          <a:p>
            <a:pPr lvl="2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3A46F1"/>
                </a:solidFill>
              </a:rPr>
              <a:t>Steps to reset your forgotten password.</a:t>
            </a:r>
          </a:p>
          <a:p>
            <a:pPr lvl="2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3A46F1"/>
                </a:solidFill>
              </a:rPr>
              <a:t>Where can I find the user manual?</a:t>
            </a:r>
          </a:p>
          <a:p>
            <a:pPr lvl="2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3A46F1"/>
                </a:solidFill>
              </a:rPr>
              <a:t>"What is the return policy?</a:t>
            </a:r>
          </a:p>
          <a:p>
            <a:pPr lvl="2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3A46F1"/>
                </a:solidFill>
              </a:rPr>
              <a:t>"How can I change my account password?</a:t>
            </a:r>
          </a:p>
          <a:p>
            <a:pPr lvl="2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3A46F1"/>
                </a:solidFill>
              </a:rPr>
              <a:t>Shipping options and costs.</a:t>
            </a:r>
          </a:p>
          <a:p>
            <a:pPr lvl="2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3A46F1"/>
                </a:solidFill>
              </a:rPr>
              <a:t>How to recover a lost password?</a:t>
            </a:r>
          </a:p>
          <a:p>
            <a:pPr lvl="1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tx1"/>
              </a:solidFill>
            </a:endParaRPr>
          </a:p>
          <a:p>
            <a:pPr mar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tx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2BC1343-04BB-F8D9-DCDD-6DAF0F5423C6}"/>
              </a:ext>
            </a:extLst>
          </p:cNvPr>
          <p:cNvSpPr/>
          <p:nvPr/>
        </p:nvSpPr>
        <p:spPr>
          <a:xfrm>
            <a:off x="270187" y="1240437"/>
            <a:ext cx="209498" cy="228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highlight>
                  <a:srgbClr val="2F85A2"/>
                </a:highlight>
              </a:rPr>
              <a:t>1</a:t>
            </a:r>
            <a:endParaRPr lang="en-US" dirty="0">
              <a:solidFill>
                <a:schemeClr val="bg1"/>
              </a:solidFill>
              <a:highlight>
                <a:srgbClr val="2F85A2"/>
              </a:highlight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46A2F47-15B8-D0E7-B959-D1A2A6F202D3}"/>
              </a:ext>
            </a:extLst>
          </p:cNvPr>
          <p:cNvSpPr/>
          <p:nvPr/>
        </p:nvSpPr>
        <p:spPr>
          <a:xfrm>
            <a:off x="2446076" y="1294263"/>
            <a:ext cx="209498" cy="228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highlight>
                  <a:srgbClr val="2F85A2"/>
                </a:highlight>
              </a:rPr>
              <a:t>2</a:t>
            </a:r>
            <a:endParaRPr lang="en-US" dirty="0">
              <a:solidFill>
                <a:schemeClr val="bg1"/>
              </a:solidFill>
              <a:highlight>
                <a:srgbClr val="2F85A2"/>
              </a:highlight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BFFE14B-35F5-A6B9-21C6-21CE42ACE508}"/>
              </a:ext>
            </a:extLst>
          </p:cNvPr>
          <p:cNvSpPr/>
          <p:nvPr/>
        </p:nvSpPr>
        <p:spPr>
          <a:xfrm>
            <a:off x="4722265" y="1275415"/>
            <a:ext cx="209498" cy="228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highlight>
                  <a:srgbClr val="2F85A2"/>
                </a:highlight>
              </a:rPr>
              <a:t>3</a:t>
            </a:r>
            <a:endParaRPr lang="en-US" dirty="0">
              <a:solidFill>
                <a:schemeClr val="bg1"/>
              </a:solidFill>
              <a:highlight>
                <a:srgbClr val="2F85A2"/>
              </a:highlight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7942407-2F61-0022-78C3-089DDB622E96}"/>
              </a:ext>
            </a:extLst>
          </p:cNvPr>
          <p:cNvSpPr/>
          <p:nvPr/>
        </p:nvSpPr>
        <p:spPr>
          <a:xfrm>
            <a:off x="160077" y="3612630"/>
            <a:ext cx="209498" cy="228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highlight>
                  <a:srgbClr val="2F85A2"/>
                </a:highlight>
              </a:rPr>
              <a:t>4</a:t>
            </a:r>
            <a:endParaRPr lang="en-US" dirty="0">
              <a:solidFill>
                <a:schemeClr val="bg1"/>
              </a:solidFill>
              <a:highlight>
                <a:srgbClr val="2F85A2"/>
              </a:highlight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58247D6-23FA-CD2E-A07D-5F0DD6092100}"/>
              </a:ext>
            </a:extLst>
          </p:cNvPr>
          <p:cNvSpPr/>
          <p:nvPr/>
        </p:nvSpPr>
        <p:spPr>
          <a:xfrm>
            <a:off x="2334876" y="3612630"/>
            <a:ext cx="209498" cy="228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highlight>
                  <a:srgbClr val="2F85A2"/>
                </a:highlight>
              </a:rPr>
              <a:t>5</a:t>
            </a:r>
            <a:endParaRPr lang="en-US" dirty="0">
              <a:solidFill>
                <a:schemeClr val="bg1"/>
              </a:solidFill>
              <a:highlight>
                <a:srgbClr val="2F85A2"/>
              </a:highlight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A0DAF9-4843-8793-D896-241E7A08049F}"/>
              </a:ext>
            </a:extLst>
          </p:cNvPr>
          <p:cNvSpPr/>
          <p:nvPr/>
        </p:nvSpPr>
        <p:spPr>
          <a:xfrm>
            <a:off x="4734757" y="3612630"/>
            <a:ext cx="209498" cy="228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highlight>
                  <a:srgbClr val="2F85A2"/>
                </a:highlight>
              </a:rPr>
              <a:t>6</a:t>
            </a:r>
            <a:endParaRPr lang="en-US" dirty="0">
              <a:solidFill>
                <a:schemeClr val="bg1"/>
              </a:solidFill>
              <a:highlight>
                <a:srgbClr val="2F85A2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377186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52219-8D68-CD40-FCA1-F4E466C07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F85A2"/>
                </a:solidFill>
              </a:rPr>
              <a:t>Semantic Search in RAG</a:t>
            </a:r>
            <a:endParaRPr lang="en-US" dirty="0">
              <a:solidFill>
                <a:srgbClr val="2F85A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50827-8944-76C2-5FE3-7A2850BD1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670" y="1720850"/>
            <a:ext cx="8825659" cy="3416300"/>
          </a:xfrm>
        </p:spPr>
        <p:txBody>
          <a:bodyPr/>
          <a:lstStyle/>
          <a:p>
            <a:r>
              <a:rPr lang="en-US" dirty="0">
                <a:solidFill>
                  <a:srgbClr val="4B6889"/>
                </a:solidFill>
              </a:rPr>
              <a:t>Retrieve relevant context from a document corpus</a:t>
            </a:r>
          </a:p>
          <a:p>
            <a:r>
              <a:rPr lang="en-US" dirty="0">
                <a:solidFill>
                  <a:srgbClr val="4B6889"/>
                </a:solidFill>
              </a:rPr>
              <a:t>Context passed along with query to LLM</a:t>
            </a:r>
          </a:p>
          <a:p>
            <a:r>
              <a:rPr lang="en-US" dirty="0">
                <a:solidFill>
                  <a:srgbClr val="4B6889"/>
                </a:solidFill>
              </a:rPr>
              <a:t>Improves relevance and factual accuracy of answers</a:t>
            </a:r>
          </a:p>
          <a:p>
            <a:r>
              <a:rPr lang="en-US" b="1" dirty="0">
                <a:solidFill>
                  <a:srgbClr val="4B6889"/>
                </a:solidFill>
              </a:rPr>
              <a:t>Example</a:t>
            </a:r>
            <a:r>
              <a:rPr lang="en-US" dirty="0">
                <a:solidFill>
                  <a:srgbClr val="4B6889"/>
                </a:solidFill>
              </a:rPr>
              <a:t>: Query: "What is the shelf life of COVID vaccines?" — retrieves CDC guidelines as context for LLM</a:t>
            </a:r>
          </a:p>
          <a:p>
            <a:pPr marL="0" indent="0">
              <a:buNone/>
            </a:pPr>
            <a:endParaRPr lang="en-US" dirty="0">
              <a:solidFill>
                <a:srgbClr val="4B6889"/>
              </a:solidFill>
            </a:endParaRPr>
          </a:p>
        </p:txBody>
      </p:sp>
      <p:pic>
        <p:nvPicPr>
          <p:cNvPr id="5" name="Picture 4" descr="A diagram of a keyword research&#10;&#10;AI-generated content may be incorrect.">
            <a:extLst>
              <a:ext uri="{FF2B5EF4-FFF2-40B4-BE49-F238E27FC236}">
                <a16:creationId xmlns:a16="http://schemas.microsoft.com/office/drawing/2014/main" id="{DBE5BE08-AA22-0090-4F25-020CD57AD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8513" y="4311650"/>
            <a:ext cx="3124200" cy="2171700"/>
          </a:xfrm>
          <a:prstGeom prst="rect">
            <a:avLst/>
          </a:prstGeom>
        </p:spPr>
      </p:pic>
      <p:pic>
        <p:nvPicPr>
          <p:cNvPr id="7" name="Picture 6" descr="A diagram of a graph&#10;&#10;AI-generated content may be incorrect.">
            <a:extLst>
              <a:ext uri="{FF2B5EF4-FFF2-40B4-BE49-F238E27FC236}">
                <a16:creationId xmlns:a16="http://schemas.microsoft.com/office/drawing/2014/main" id="{09F92288-E863-6CB5-7C55-9058D5B2D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11" y="4311650"/>
            <a:ext cx="7983802" cy="256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603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agram of a generator language model&#10;&#10;AI-generated content may be incorrect.">
            <a:extLst>
              <a:ext uri="{FF2B5EF4-FFF2-40B4-BE49-F238E27FC236}">
                <a16:creationId xmlns:a16="http://schemas.microsoft.com/office/drawing/2014/main" id="{86358E56-DE4F-8501-AACD-50D2B04C3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465" y="2362011"/>
            <a:ext cx="9462248" cy="36681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3CD0CB7-23A4-D3D0-5016-C2216A21D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F85A2"/>
                </a:solidFill>
              </a:rPr>
              <a:t>RAG Workflow</a:t>
            </a:r>
            <a:endParaRPr lang="en-US" dirty="0">
              <a:solidFill>
                <a:srgbClr val="2F85A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DE940-F8D8-603B-CBA8-92B3DB088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810" y="4228350"/>
            <a:ext cx="2679590" cy="25477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4B6889"/>
                </a:solidFill>
              </a:rPr>
              <a:t>Data Loading</a:t>
            </a:r>
            <a:r>
              <a:rPr lang="en-US" sz="1400" dirty="0">
                <a:solidFill>
                  <a:srgbClr val="4B6889"/>
                </a:solidFill>
              </a:rPr>
              <a:t> (e.g., load knowledge base documents from PDFs or CSVs)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4B6889"/>
                </a:solidFill>
              </a:rPr>
              <a:t>Chunking</a:t>
            </a:r>
            <a:r>
              <a:rPr lang="en-US" sz="1400" dirty="0">
                <a:solidFill>
                  <a:srgbClr val="4B6889"/>
                </a:solidFill>
              </a:rPr>
              <a:t> (split into manageable pieces, e.g., 500 tokens each)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4B6889"/>
                </a:solidFill>
              </a:rPr>
              <a:t>Embedding</a:t>
            </a:r>
            <a:r>
              <a:rPr lang="en-US" sz="1400" dirty="0">
                <a:solidFill>
                  <a:srgbClr val="4B6889"/>
                </a:solidFill>
              </a:rPr>
              <a:t> (via sentence transformer like all-MiniLM-L6-v2)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4B6889"/>
                </a:solidFill>
              </a:rPr>
              <a:t>Store in Vector Database</a:t>
            </a:r>
            <a:r>
              <a:rPr lang="en-US" sz="1400" dirty="0">
                <a:solidFill>
                  <a:srgbClr val="4B6889"/>
                </a:solidFill>
              </a:rPr>
              <a:t> (e.g., FAISS, Pinecone, </a:t>
            </a:r>
            <a:r>
              <a:rPr lang="en-US" sz="1400" dirty="0" err="1">
                <a:solidFill>
                  <a:srgbClr val="4B6889"/>
                </a:solidFill>
              </a:rPr>
              <a:t>Weaviate</a:t>
            </a:r>
            <a:r>
              <a:rPr lang="en-US" sz="1400" dirty="0">
                <a:solidFill>
                  <a:srgbClr val="4B6889"/>
                </a:solidFill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4D08FC-A16B-CA48-9EC9-FF5AF77DBD53}"/>
              </a:ext>
            </a:extLst>
          </p:cNvPr>
          <p:cNvSpPr txBox="1"/>
          <p:nvPr/>
        </p:nvSpPr>
        <p:spPr>
          <a:xfrm>
            <a:off x="666220" y="2763541"/>
            <a:ext cx="190764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4B6889"/>
                </a:solidFill>
              </a:rPr>
              <a:t>Embed Question</a:t>
            </a:r>
            <a:r>
              <a:rPr lang="en-US" sz="1400" dirty="0">
                <a:solidFill>
                  <a:srgbClr val="4B6889"/>
                </a:solidFill>
              </a:rPr>
              <a:t> (same embedding model used)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EAE26E-FA8B-20D6-7ABE-F255A6962729}"/>
              </a:ext>
            </a:extLst>
          </p:cNvPr>
          <p:cNvSpPr txBox="1"/>
          <p:nvPr/>
        </p:nvSpPr>
        <p:spPr>
          <a:xfrm>
            <a:off x="5906884" y="5693109"/>
            <a:ext cx="20869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4B6889"/>
                </a:solidFill>
              </a:rPr>
              <a:t>Semantic Search &amp; Retrieve Top-k Documents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63F4FC-F0BD-9992-AE77-D9DF1A52AE6F}"/>
              </a:ext>
            </a:extLst>
          </p:cNvPr>
          <p:cNvSpPr txBox="1"/>
          <p:nvPr/>
        </p:nvSpPr>
        <p:spPr>
          <a:xfrm>
            <a:off x="7993809" y="3227341"/>
            <a:ext cx="151976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4B6889"/>
                </a:solidFill>
              </a:rPr>
              <a:t>Final LLM Response Generation</a:t>
            </a:r>
            <a:r>
              <a:rPr lang="en-US" sz="1400" dirty="0">
                <a:solidFill>
                  <a:srgbClr val="4B6889"/>
                </a:solidFill>
              </a:rPr>
              <a:t> (e.g., OpenAI GPT-4 or Cohere command R)</a:t>
            </a:r>
          </a:p>
        </p:txBody>
      </p:sp>
    </p:spTree>
    <p:extLst>
      <p:ext uri="{BB962C8B-B14F-4D97-AF65-F5344CB8AC3E}">
        <p14:creationId xmlns:p14="http://schemas.microsoft.com/office/powerpoint/2010/main" val="27334686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646D24-CDAE-0350-52DA-39687366B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>
            <a:normAutofit/>
          </a:bodyPr>
          <a:lstStyle/>
          <a:p>
            <a:r>
              <a:rPr lang="en-US" sz="5200" b="1" dirty="0">
                <a:solidFill>
                  <a:srgbClr val="2F85A2"/>
                </a:solidFill>
              </a:rPr>
              <a:t>Benefits of RAG</a:t>
            </a:r>
            <a:endParaRPr lang="en-US" sz="5200" dirty="0">
              <a:solidFill>
                <a:srgbClr val="2F85A2"/>
              </a:solidFill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E2E12AA-1A6B-B1D6-B2A9-9723D257F5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5705375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235187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24C85-DA11-978F-0229-59483F507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4655E-D616-5D9D-0E33-0178B9FD9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>
            <a:normAutofit/>
          </a:bodyPr>
          <a:lstStyle/>
          <a:p>
            <a:r>
              <a:rPr lang="en-US" sz="5200" b="1" dirty="0">
                <a:solidFill>
                  <a:srgbClr val="2F85A2"/>
                </a:solidFill>
              </a:rPr>
              <a:t>Limitations of RAG</a:t>
            </a:r>
            <a:endParaRPr lang="en-US" sz="5200" dirty="0">
              <a:solidFill>
                <a:srgbClr val="2F85A2"/>
              </a:solidFill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70680E4D-821C-47C8-C096-81686FF07E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8959119"/>
              </p:ext>
            </p:extLst>
          </p:nvPr>
        </p:nvGraphicFramePr>
        <p:xfrm>
          <a:off x="5090160" y="1317834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723099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5A3C6-47BF-93BD-98BB-FB11542BC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F85A2"/>
                </a:solidFill>
              </a:rPr>
              <a:t>RAG Evaluation Mechanism</a:t>
            </a:r>
            <a:endParaRPr lang="en-US" dirty="0">
              <a:solidFill>
                <a:srgbClr val="2F85A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17656-2326-A284-3EC4-E4479B0D4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958" y="1958923"/>
            <a:ext cx="4271233" cy="3416300"/>
          </a:xfrm>
        </p:spPr>
        <p:txBody>
          <a:bodyPr>
            <a:noAutofit/>
          </a:bodyPr>
          <a:lstStyle/>
          <a:p>
            <a:r>
              <a:rPr lang="en-US" sz="1800" b="1" dirty="0">
                <a:solidFill>
                  <a:srgbClr val="4B6889"/>
                </a:solidFill>
              </a:rPr>
              <a:t>The RAG Triad</a:t>
            </a:r>
            <a:r>
              <a:rPr lang="en-US" sz="1800" dirty="0">
                <a:solidFill>
                  <a:srgbClr val="4B6889"/>
                </a:solidFill>
              </a:rPr>
              <a:t>: Context Quality, Answer Quality, Grounding</a:t>
            </a:r>
          </a:p>
          <a:p>
            <a:r>
              <a:rPr lang="en-US" sz="1800" b="1" dirty="0">
                <a:solidFill>
                  <a:srgbClr val="4B6889"/>
                </a:solidFill>
              </a:rPr>
              <a:t>RAGAS Framework</a:t>
            </a:r>
            <a:r>
              <a:rPr lang="en-US" sz="1800" dirty="0">
                <a:solidFill>
                  <a:srgbClr val="4B6889"/>
                </a:solidFill>
              </a:rPr>
              <a:t>: Standard metrics for RAG evaluation</a:t>
            </a:r>
          </a:p>
          <a:p>
            <a:pPr lvl="1"/>
            <a:r>
              <a:rPr lang="en-US" sz="1800" dirty="0">
                <a:solidFill>
                  <a:srgbClr val="4B6889"/>
                </a:solidFill>
              </a:rPr>
              <a:t>Context Recall, Precision</a:t>
            </a:r>
          </a:p>
          <a:p>
            <a:pPr lvl="1"/>
            <a:r>
              <a:rPr lang="en-US" sz="1800" dirty="0">
                <a:solidFill>
                  <a:srgbClr val="4B6889"/>
                </a:solidFill>
              </a:rPr>
              <a:t>Answer Relevance, Factuality</a:t>
            </a:r>
          </a:p>
          <a:p>
            <a:r>
              <a:rPr lang="en-US" sz="1800" b="1" dirty="0">
                <a:solidFill>
                  <a:srgbClr val="4B6889"/>
                </a:solidFill>
              </a:rPr>
              <a:t>Factuality Scores</a:t>
            </a:r>
            <a:r>
              <a:rPr lang="en-US" sz="1800" dirty="0">
                <a:solidFill>
                  <a:srgbClr val="4B6889"/>
                </a:solidFill>
              </a:rPr>
              <a:t>: Human/automated fact-checking</a:t>
            </a:r>
          </a:p>
          <a:p>
            <a:pPr lvl="1"/>
            <a:r>
              <a:rPr lang="en-US" sz="1800" b="1" dirty="0">
                <a:solidFill>
                  <a:srgbClr val="4B6889"/>
                </a:solidFill>
              </a:rPr>
              <a:t>Example</a:t>
            </a:r>
            <a:r>
              <a:rPr lang="en-US" sz="1800" dirty="0">
                <a:solidFill>
                  <a:srgbClr val="4B6889"/>
                </a:solidFill>
              </a:rPr>
              <a:t>: Evaluate chatbot answers for "accuracy" by checking if supporting document was correctly retrieved</a:t>
            </a:r>
          </a:p>
          <a:p>
            <a:endParaRPr lang="en-US" sz="1800" dirty="0">
              <a:solidFill>
                <a:srgbClr val="4B6889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C1F829-EC48-A9BA-D6FF-0B5C94A54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800" y="2316237"/>
            <a:ext cx="6310512" cy="4048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8007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D7651-3A35-F5EB-1420-FE7A22B4C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2BE3611-F111-814E-0531-BFAE374B1B4E}"/>
              </a:ext>
            </a:extLst>
          </p:cNvPr>
          <p:cNvSpPr txBox="1">
            <a:spLocks/>
          </p:cNvSpPr>
          <p:nvPr/>
        </p:nvSpPr>
        <p:spPr>
          <a:xfrm>
            <a:off x="576639" y="863560"/>
            <a:ext cx="8761413" cy="706964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>
                <a:solidFill>
                  <a:srgbClr val="2F85A2"/>
                </a:solidFill>
              </a:rPr>
              <a:t>RAGAS Evaluation</a:t>
            </a:r>
            <a:endParaRPr lang="en-US" dirty="0">
              <a:solidFill>
                <a:srgbClr val="2F85A2"/>
              </a:solidFill>
            </a:endParaRPr>
          </a:p>
        </p:txBody>
      </p:sp>
      <p:pic>
        <p:nvPicPr>
          <p:cNvPr id="3" name="Picture 2" descr="A green and orange scale&#10;&#10;AI-generated content may be incorrect.">
            <a:extLst>
              <a:ext uri="{FF2B5EF4-FFF2-40B4-BE49-F238E27FC236}">
                <a16:creationId xmlns:a16="http://schemas.microsoft.com/office/drawing/2014/main" id="{4183D230-BFAF-BAB2-E3DB-0CC3B5A6E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639" y="3640099"/>
            <a:ext cx="11038721" cy="192030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6D53478-6EB9-B362-9622-4599DD959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697" y="1992722"/>
            <a:ext cx="11369663" cy="122517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736169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AB9DB-0002-88C3-0BF1-C7567F52D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2F85A2"/>
                </a:solidFill>
              </a:rPr>
              <a:t>Basic Rag has limitations.</a:t>
            </a:r>
            <a:br>
              <a:rPr lang="en-US" dirty="0">
                <a:solidFill>
                  <a:srgbClr val="2F85A2"/>
                </a:solidFill>
              </a:rPr>
            </a:br>
            <a:endParaRPr lang="en-US" dirty="0">
              <a:solidFill>
                <a:srgbClr val="2F85A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F300D8-7F01-73D0-192B-82F9B921BA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how we can improve it…</a:t>
            </a:r>
          </a:p>
        </p:txBody>
      </p:sp>
    </p:spTree>
    <p:extLst>
      <p:ext uri="{BB962C8B-B14F-4D97-AF65-F5344CB8AC3E}">
        <p14:creationId xmlns:p14="http://schemas.microsoft.com/office/powerpoint/2010/main" val="14979267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6BF45-878D-83D2-8984-AC0FABCAF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F85A2"/>
                </a:solidFill>
              </a:rPr>
              <a:t>Advanced RAG Methods</a:t>
            </a:r>
            <a:endParaRPr lang="en-US" dirty="0">
              <a:solidFill>
                <a:srgbClr val="2F85A2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D6140C7-CD8A-3F26-4D39-D7CD1EC2094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111623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70C80-4295-B6E4-0F8E-91D22F4F7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F85A2"/>
                </a:solidFill>
              </a:rPr>
              <a:t>Summary</a:t>
            </a:r>
            <a:endParaRPr lang="en-US" dirty="0">
              <a:solidFill>
                <a:srgbClr val="2F85A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FF50E-D918-15A1-6778-3059FA4CC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4B6889"/>
                </a:solidFill>
              </a:rPr>
              <a:t>Semantic Search is foundational to RAG</a:t>
            </a:r>
          </a:p>
          <a:p>
            <a:r>
              <a:rPr lang="en-US" dirty="0">
                <a:solidFill>
                  <a:srgbClr val="4B6889"/>
                </a:solidFill>
              </a:rPr>
              <a:t>RAG combines IR with LLMs for improved response quality</a:t>
            </a:r>
          </a:p>
          <a:p>
            <a:r>
              <a:rPr lang="en-US" dirty="0">
                <a:solidFill>
                  <a:srgbClr val="4B6889"/>
                </a:solidFill>
              </a:rPr>
              <a:t>Benefits include factuality, adaptability, and reduced hallucinations</a:t>
            </a:r>
          </a:p>
          <a:p>
            <a:r>
              <a:rPr lang="en-US" dirty="0">
                <a:solidFill>
                  <a:srgbClr val="4B6889"/>
                </a:solidFill>
              </a:rPr>
              <a:t>Evaluation and improvement methods are evolving rapidly</a:t>
            </a:r>
          </a:p>
        </p:txBody>
      </p:sp>
    </p:spTree>
    <p:extLst>
      <p:ext uri="{BB962C8B-B14F-4D97-AF65-F5344CB8AC3E}">
        <p14:creationId xmlns:p14="http://schemas.microsoft.com/office/powerpoint/2010/main" val="2198145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23D300-9D03-4E49-9615-973A4EED1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rgbClr val="2F85A2"/>
                </a:solidFill>
              </a:rPr>
              <a:t>Q&amp;A</a:t>
            </a:r>
            <a:endParaRPr lang="en-US" sz="4000" dirty="0">
              <a:solidFill>
                <a:srgbClr val="2F85A2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0898806-4BB4-53AE-0CC2-4F1035B14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2000" dirty="0">
                <a:solidFill>
                  <a:srgbClr val="4B6889"/>
                </a:solidFill>
              </a:rPr>
              <a:t>Questions?</a:t>
            </a:r>
          </a:p>
          <a:p>
            <a:r>
              <a:rPr lang="en-US" sz="2000" dirty="0">
                <a:solidFill>
                  <a:srgbClr val="4B6889"/>
                </a:solidFill>
              </a:rPr>
              <a:t>Discussion</a:t>
            </a:r>
          </a:p>
        </p:txBody>
      </p:sp>
      <p:pic>
        <p:nvPicPr>
          <p:cNvPr id="5" name="Picture 4" descr="Different colored question marks">
            <a:extLst>
              <a:ext uri="{FF2B5EF4-FFF2-40B4-BE49-F238E27FC236}">
                <a16:creationId xmlns:a16="http://schemas.microsoft.com/office/drawing/2014/main" id="{E1FEB125-9982-10B6-2B20-CFD0F784B7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279" r="26665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821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2880</TotalTime>
  <Words>878</Words>
  <Application>Microsoft Macintosh PowerPoint</Application>
  <PresentationFormat>Widescreen</PresentationFormat>
  <Paragraphs>163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Aptos</vt:lpstr>
      <vt:lpstr>Arial</vt:lpstr>
      <vt:lpstr>Calibri</vt:lpstr>
      <vt:lpstr>Calibri Light</vt:lpstr>
      <vt:lpstr>source-serif-pro</vt:lpstr>
      <vt:lpstr>Times New Roman</vt:lpstr>
      <vt:lpstr>Wingdings</vt:lpstr>
      <vt:lpstr>Office 2013 - 2022 Theme</vt:lpstr>
      <vt:lpstr>Semantic Search and Retrieval-Augmented Generation (RAG)</vt:lpstr>
      <vt:lpstr>Agenda</vt:lpstr>
      <vt:lpstr>Traditional Language Models</vt:lpstr>
      <vt:lpstr>Transformer model</vt:lpstr>
      <vt:lpstr>Transformer model</vt:lpstr>
      <vt:lpstr>Transformer model</vt:lpstr>
      <vt:lpstr>Encoder-only Transformers for Dense Embeddings</vt:lpstr>
      <vt:lpstr>PowerPoint Presentation</vt:lpstr>
      <vt:lpstr>Sentence Embeddings over Word Embeddings</vt:lpstr>
      <vt:lpstr>PowerPoint Presentation</vt:lpstr>
      <vt:lpstr>Semantic Search with Transformers</vt:lpstr>
      <vt:lpstr>PowerPoint Presentation</vt:lpstr>
      <vt:lpstr>Semantic Search in RAG</vt:lpstr>
      <vt:lpstr>RAG Workflow</vt:lpstr>
      <vt:lpstr>Benefits of RAG</vt:lpstr>
      <vt:lpstr>Limitations of RAG</vt:lpstr>
      <vt:lpstr>RAG Evaluation Mechanism</vt:lpstr>
      <vt:lpstr>PowerPoint Presentation</vt:lpstr>
      <vt:lpstr>Basic Rag has limitations. </vt:lpstr>
      <vt:lpstr>Advanced RAG Methods</vt:lpstr>
      <vt:lpstr>Summary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shraddha sharma</dc:creator>
  <cp:lastModifiedBy>shraddha sharma</cp:lastModifiedBy>
  <cp:revision>94</cp:revision>
  <dcterms:created xsi:type="dcterms:W3CDTF">2025-07-02T04:27:28Z</dcterms:created>
  <dcterms:modified xsi:type="dcterms:W3CDTF">2025-07-05T04:34:05Z</dcterms:modified>
</cp:coreProperties>
</file>